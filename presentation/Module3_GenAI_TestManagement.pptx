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divider. Runs entirely offline — VS Code + Copilot Chat only, no MCP/n8n needed. This module doubles as the responsible-AI payoff: both exercises are built so Copilot's raw output isn't automatically correct or complete without a human comparing it to source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link] Exercise 1, verbatim: "Using #ticket-AEB-99.md as the intended scope and #pr-diff.md as the actual change, assess whether the PR matches the ticket's scope. List each distinct change in the PR, mark it In Scope or Out of Scope against the ticket's acceptance criteria, and flag anything that looks like it could break another system silently. Cite the specific diff hunk for each finding."
Ticket AEB-99 traces directly back to Module 1's retro (QAM-207, the AEB false-positive found in Sprint 14 triage) and Module 2's Sprint 15 backlog (QAM-315, still open going into this sprint) — the same underlying defect, one thread through all three modules.
Participants work the diff themselves first, form their own opinion, then compare against Copilot's answer, then against answer-keys/pr-scope-answer-key.md. A good Copilot output enumerates all four changes distinctly, cites the ticket's explicit out-of-scope bullets (not just general judgment), and states this is advisory — a human reviewer, ideally with functional-safety sign-off, should confirm before requesting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link] Exercise 2, verbatim: "Using #aeb-requirements.csv as the full requirement list and #test-execution-report.xml as this build's test results, produce an advisory coverage-gap report with two sections: (1) requirements with NO corresponding test case, (2) requirements with a test case that failed... This is advisory only — flag it as needing human confirmation." Extended with: "Cross-reference #execution-log.txt for the failing tests — does the log suggest an environment issue or a genuine functional defect? Note your confidence for each."
Full real result set (aeb-requirements.csv × test-execution-report.xml, 10 requirements, 7 tests run): AEB-114, AEB-121, AEB-125 have NO test case at all. AEB-105, AEB-108, AEB-110 have a test that FAILED. execution-log.txt shows AEB-105's failure trailing a capture-rig queue-depth warning (likely instrumentation, lower confidence it's a real defect); AEB-108's failure trails a sensor_fusion_buffer-exhausted warning (medium confidence — could be genuine or a test-harness sizing issue); AEB-110 has no environment signal at all in the log, so it's the highest-confidence real functional defect of the three failures. AEB-99, AEB-101, AEB-118, AEB-130 passed cleanly. Only 5 rows shown on-slide for space — the full set is in answer-keys/coverage-gap-answer-key.md.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the question this audience is most likely silently asking: does IT/compliance make me stop using this once someone notices? The advisory-only default is why the answer is no, today.
This module's own two exercises are the concrete evidence for the principle: Slide 2's PR check needed a human to weigh the CAN-schema-change risk beyond "unrelated"; Slide 3's coverage check needed a human (or the log cross-reference) to separate a real defect (AEB-110) from likely test-instrumentation noise (AEB-105).
Source: Tool Qualification &amp; TCL — itemis glossary, verified against ISO 26262-8 terminology (TCL 1/2/3, tool impact + error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supplier/OEM audience, proprietary requirement and design data under NDA is usually the bigger day-to-day risk than customer PII — worded to lead with that.
Governance discussion seed questions (facilitator-led, from lab-guide.md): "Has anyone already used Copilot/ChatGPT for something like a status report in real work — what went right or wrong?" and "If the Module 2 n8n workflow sent a wrong defect-density number to a director every Monday for a month before anyone caught it — what breaks, and whose job was it to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logic applies to the n8n automation from Module 2 and the PR/coverage checks from this module — governance is a habit, not a one-time slide. All lab data across all three modules is synthetic (QAM-2xx/QAM-3xx tickets, AEB requirement IDs) — safe to use in a shared or public sandbox, which is itself a demonstration of the 'synthetic/sanitized by default'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link] Teaches reviewing your own Exercise 2 result against answer-keys/coverage-gap-answer-key.md.
This is the answer key's own key teaching point #1, verbatim in spirit: "a participant or Copilot output that lumps AEB-114 in with AEB-105 as equally 'gaps' is missing the distinction the exercise is built around. Zero coverage on a known critical defect (AEB-114) is arguably the most urgent finding in the whole report, and it wouldn't show up at all in a report that only looks at pass/fail results." The answer key also flags that a Copilot output stating conclusions as fact without an explicit 'needs human confirmation' caveat is itself a good discussion point for the governance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three tools all sit in "advisory, human-reviewed" by design — high stakes, and current AI verifiability isn't yet high enough to change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data confirmed ready (lab/README.md status table). Facilitator note: don't let the answer-key comparison become "did you get it right/wrong" — the point is noticing where and why Copilot's first pass needed a human correction.
Module 3 sources: GitHub Copilot code review · Responsible use of Copilot · Responsible use — Chat · Responsible use — Agents · Tool Qualification &amp; TCL (itemis) · Automotive SPICE (VDA QMC)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0" y="1965960"/>
            <a:ext cx="12191695" cy="365760"/>
          </a:xfrm>
          <a:prstGeom prst="rect">
            <a:avLst/>
          </a:prstGeom>
          <a:noFill/>
          <a:ln/>
        </p:spPr>
        <p:txBody>
          <a:bodyPr wrap="square" lIns="0" tIns="0" rIns="0" bIns="0" rtlCol="0" anchor="ctr"/>
          <a:lstStyle/>
          <a:p>
            <a:pPr algn="ctr" indent="0" marL="0">
              <a:buNone/>
            </a:pPr>
            <a:r>
              <a:rPr lang="en-US" sz="1400" b="1" spc="300" kern="0" dirty="0">
                <a:solidFill>
                  <a:srgbClr val="CADCFC"/>
                </a:solidFill>
                <a:latin typeface="Calibri" pitchFamily="34" charset="0"/>
                <a:ea typeface="Calibri" pitchFamily="34" charset="-122"/>
                <a:cs typeface="Calibri" pitchFamily="34" charset="-120"/>
              </a:rPr>
              <a:t>GENAI FOR TEST MANAGEMENT · TRACK 2</a:t>
            </a:r>
            <a:endParaRPr lang="en-US" sz="1400" dirty="0"/>
          </a:p>
        </p:txBody>
      </p:sp>
      <p:sp>
        <p:nvSpPr>
          <p:cNvPr id="3" name="Text 1"/>
          <p:cNvSpPr/>
          <p:nvPr/>
        </p:nvSpPr>
        <p:spPr>
          <a:xfrm>
            <a:off x="0" y="237744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Module 3</a:t>
            </a:r>
            <a:endParaRPr lang="en-US" sz="5400" dirty="0"/>
          </a:p>
        </p:txBody>
      </p:sp>
      <p:sp>
        <p:nvSpPr>
          <p:cNvPr id="4" name="Text 2"/>
          <p:cNvSpPr/>
          <p:nvPr/>
        </p:nvSpPr>
        <p:spPr>
          <a:xfrm>
            <a:off x="0" y="3337560"/>
            <a:ext cx="12191695" cy="548640"/>
          </a:xfrm>
          <a:prstGeom prst="rect">
            <a:avLst/>
          </a:prstGeom>
          <a:noFill/>
          <a:ln/>
        </p:spPr>
        <p:txBody>
          <a:bodyPr wrap="square" lIns="0" tIns="0" rIns="0" bIns="0" rtlCol="0" anchor="ctr"/>
          <a:lstStyle/>
          <a:p>
            <a:pPr algn="ctr" indent="0" marL="0">
              <a:buNone/>
            </a:pPr>
            <a:r>
              <a:rPr lang="en-US" sz="2200" dirty="0">
                <a:solidFill>
                  <a:srgbClr val="CADCFC"/>
                </a:solidFill>
                <a:latin typeface="Calibri" pitchFamily="34" charset="0"/>
                <a:ea typeface="Calibri" pitchFamily="34" charset="-122"/>
                <a:cs typeface="Calibri" pitchFamily="34" charset="-120"/>
              </a:rPr>
              <a:t>PR Scope, Coverage-Gap Checks &amp; Responsible AI Governance</a:t>
            </a:r>
            <a:endParaRPr lang="en-US" sz="2200" dirty="0"/>
          </a:p>
        </p:txBody>
      </p:sp>
      <p:sp>
        <p:nvSpPr>
          <p:cNvPr id="5" name="Text 3"/>
          <p:cNvSpPr/>
          <p:nvPr/>
        </p:nvSpPr>
        <p:spPr>
          <a:xfrm>
            <a:off x="1463003" y="4114800"/>
            <a:ext cx="9265688" cy="640080"/>
          </a:xfrm>
          <a:prstGeom prst="rect">
            <a:avLst/>
          </a:prstGeom>
          <a:noFill/>
          <a:ln/>
        </p:spPr>
        <p:txBody>
          <a:bodyPr wrap="square" lIns="0" tIns="0" rIns="0" bIns="0" rtlCol="0" anchor="ctr"/>
          <a:lstStyle/>
          <a:p>
            <a:pPr algn="ctr" indent="0" marL="0">
              <a:buNone/>
            </a:pPr>
            <a:r>
              <a:rPr lang="en-US" sz="1300" i="1" dirty="0">
                <a:solidFill>
                  <a:srgbClr val="9FB0DE"/>
                </a:solidFill>
                <a:latin typeface="Calibri" pitchFamily="34" charset="0"/>
                <a:ea typeface="Calibri" pitchFamily="34" charset="-122"/>
                <a:cs typeface="Calibri" pitchFamily="34" charset="-120"/>
              </a:rPr>
              <a:t>The fix in this module's PR (ticket AEB-99) closes the same defect first caught in Module 1's Sprint 14 retro (QAM-207) — still open in Module 2's Sprint 15 backlog as QAM-315. One thread, three modules.</a:t>
            </a:r>
            <a:endParaRPr lang="en-US" sz="1300" dirty="0"/>
          </a:p>
        </p:txBody>
      </p:sp>
      <p:sp>
        <p:nvSpPr>
          <p:cNvPr id="6" name="Text 4"/>
          <p:cNvSpPr/>
          <p:nvPr/>
        </p:nvSpPr>
        <p:spPr>
          <a:xfrm>
            <a:off x="0" y="6126480"/>
            <a:ext cx="12191695" cy="365760"/>
          </a:xfrm>
          <a:prstGeom prst="rect">
            <a:avLst/>
          </a:prstGeom>
          <a:noFill/>
          <a:ln/>
        </p:spPr>
        <p:txBody>
          <a:bodyPr wrap="square" lIns="0" tIns="0" rIns="0" bIns="0" rtlCol="0" anchor="ctr"/>
          <a:lstStyle/>
          <a:p>
            <a:pPr algn="ctr" indent="0" marL="0">
              <a:buNone/>
            </a:pPr>
            <a:r>
              <a:rPr lang="en-US" sz="1200" dirty="0">
                <a:solidFill>
                  <a:srgbClr val="8C9BD6"/>
                </a:solidFill>
                <a:latin typeface="Calibri" pitchFamily="34" charset="0"/>
                <a:ea typeface="Calibri" pitchFamily="34" charset="-122"/>
                <a:cs typeface="Calibri" pitchFamily="34" charset="-120"/>
              </a:rPr>
              <a:t>Slides 1–9  ·  Hands-on lab included  ·  ~60 min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MODULE 3 · SLIDE 1</a:t>
            </a:r>
            <a:endParaRPr lang="en-US" sz="1100" dirty="0"/>
          </a:p>
        </p:txBody>
      </p:sp>
      <p:sp>
        <p:nvSpPr>
          <p:cNvPr id="3" name="Text 1"/>
          <p:cNvSpPr/>
          <p:nvPr/>
        </p:nvSpPr>
        <p:spPr>
          <a:xfrm>
            <a:off x="457200" y="658368"/>
            <a:ext cx="10515600"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Checking PR Scope Against Requirements with Copilot</a:t>
            </a:r>
            <a:endParaRPr lang="en-US" sz="3000" dirty="0"/>
          </a:p>
        </p:txBody>
      </p:sp>
      <p:sp>
        <p:nvSpPr>
          <p:cNvPr id="4" name="Text 2"/>
          <p:cNvSpPr/>
          <p:nvPr/>
        </p:nvSpPr>
        <p:spPr>
          <a:xfrm>
            <a:off x="457200" y="1371600"/>
            <a:ext cx="11277295" cy="320040"/>
          </a:xfrm>
          <a:prstGeom prst="rect">
            <a:avLst/>
          </a:prstGeom>
          <a:noFill/>
          <a:ln/>
        </p:spPr>
        <p:txBody>
          <a:bodyPr wrap="square" lIns="0" tIns="0" rIns="0" bIns="0" rtlCol="0" anchor="ctr"/>
          <a:lstStyle/>
          <a:p>
            <a:pPr indent="0" marL="0">
              <a:buNone/>
            </a:pPr>
            <a:r>
              <a:rPr lang="en-US" sz="1300" i="1" dirty="0">
                <a:solidFill>
                  <a:srgbClr val="7B84A6"/>
                </a:solidFill>
                <a:latin typeface="Calibri" pitchFamily="34" charset="0"/>
                <a:ea typeface="Calibri" pitchFamily="34" charset="-122"/>
                <a:cs typeface="Calibri" pitchFamily="34" charset="-120"/>
              </a:rPr>
              <a:t>PR #482 vs. ticket AEB-99 — does the fix match the ticket's scope?</a:t>
            </a:r>
            <a:endParaRPr lang="en-US" sz="1300" dirty="0"/>
          </a:p>
        </p:txBody>
      </p:sp>
      <p:sp>
        <p:nvSpPr>
          <p:cNvPr id="5" name="Shape 3"/>
          <p:cNvSpPr/>
          <p:nvPr/>
        </p:nvSpPr>
        <p:spPr>
          <a:xfrm>
            <a:off x="457200" y="1783080"/>
            <a:ext cx="11277295" cy="685800"/>
          </a:xfrm>
          <a:prstGeom prst="roundRect">
            <a:avLst>
              <a:gd name="adj" fmla="val 10667"/>
            </a:avLst>
          </a:prstGeom>
          <a:solidFill>
            <a:srgbClr val="E6F2EC"/>
          </a:solidFill>
          <a:ln/>
        </p:spPr>
      </p:sp>
      <p:sp>
        <p:nvSpPr>
          <p:cNvPr id="6" name="Text 4"/>
          <p:cNvSpPr/>
          <p:nvPr/>
        </p:nvSpPr>
        <p:spPr>
          <a:xfrm>
            <a:off x="685800" y="1783080"/>
            <a:ext cx="9357055" cy="685800"/>
          </a:xfrm>
          <a:prstGeom prst="rect">
            <a:avLst/>
          </a:prstGeom>
          <a:noFill/>
          <a:ln/>
        </p:spPr>
        <p:txBody>
          <a:bodyPr wrap="square" lIns="0" tIns="0" rIns="0" bIns="0" rtlCol="0" anchor="ctr"/>
          <a:lstStyle/>
          <a:p>
            <a:pPr indent="0" marL="0">
              <a:buNone/>
            </a:pPr>
            <a:r>
              <a:rPr lang="en-US" sz="1250" b="1" dirty="0">
                <a:solidFill>
                  <a:srgbClr val="2C6B4F"/>
                </a:solidFill>
                <a:latin typeface="Calibri" pitchFamily="34" charset="0"/>
                <a:ea typeface="Calibri" pitchFamily="34" charset="-122"/>
                <a:cs typeface="Calibri" pitchFamily="34" charset="-120"/>
              </a:rPr>
              <a:t>sensorFusion.c  —  </a:t>
            </a:r>
            <a:pPr indent="0" marL="0">
              <a:buNone/>
            </a:pPr>
            <a:r>
              <a:rPr lang="en-US" sz="1250" dirty="0">
                <a:solidFill>
                  <a:srgbClr val="33395C"/>
                </a:solidFill>
                <a:latin typeface="Calibri" pitchFamily="34" charset="0"/>
                <a:ea typeface="Calibri" pitchFamily="34" charset="-122"/>
                <a:cs typeface="Calibri" pitchFamily="34" charset="-120"/>
              </a:rPr>
              <a:t>Validate radar return vs. camera-confirmed range-rate; fall back to camera-only on failure</a:t>
            </a:r>
            <a:endParaRPr lang="en-US" sz="1250" dirty="0"/>
          </a:p>
        </p:txBody>
      </p:sp>
      <p:sp>
        <p:nvSpPr>
          <p:cNvPr id="7" name="Shape 5"/>
          <p:cNvSpPr/>
          <p:nvPr/>
        </p:nvSpPr>
        <p:spPr>
          <a:xfrm>
            <a:off x="10134295" y="1961388"/>
            <a:ext cx="1417320" cy="329184"/>
          </a:xfrm>
          <a:prstGeom prst="roundRect">
            <a:avLst>
              <a:gd name="adj" fmla="val 50000"/>
            </a:avLst>
          </a:prstGeom>
          <a:solidFill>
            <a:srgbClr val="2C6B4F"/>
          </a:solidFill>
          <a:ln/>
        </p:spPr>
      </p:sp>
      <p:sp>
        <p:nvSpPr>
          <p:cNvPr id="8" name="Text 6"/>
          <p:cNvSpPr/>
          <p:nvPr/>
        </p:nvSpPr>
        <p:spPr>
          <a:xfrm>
            <a:off x="10134295" y="1961388"/>
            <a:ext cx="14173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 SCOPE</a:t>
            </a:r>
            <a:endParaRPr lang="en-US" sz="950" dirty="0"/>
          </a:p>
        </p:txBody>
      </p:sp>
      <p:sp>
        <p:nvSpPr>
          <p:cNvPr id="9" name="Shape 7"/>
          <p:cNvSpPr/>
          <p:nvPr/>
        </p:nvSpPr>
        <p:spPr>
          <a:xfrm>
            <a:off x="457200" y="2560320"/>
            <a:ext cx="11277295" cy="685800"/>
          </a:xfrm>
          <a:prstGeom prst="roundRect">
            <a:avLst>
              <a:gd name="adj" fmla="val 10667"/>
            </a:avLst>
          </a:prstGeom>
          <a:solidFill>
            <a:srgbClr val="FBEAE8"/>
          </a:solidFill>
          <a:ln/>
        </p:spPr>
      </p:sp>
      <p:sp>
        <p:nvSpPr>
          <p:cNvPr id="10" name="Text 8"/>
          <p:cNvSpPr/>
          <p:nvPr/>
        </p:nvSpPr>
        <p:spPr>
          <a:xfrm>
            <a:off x="685800" y="2560320"/>
            <a:ext cx="9357055" cy="685800"/>
          </a:xfrm>
          <a:prstGeom prst="rect">
            <a:avLst/>
          </a:prstGeom>
          <a:noFill/>
          <a:ln/>
        </p:spPr>
        <p:txBody>
          <a:bodyPr wrap="square" lIns="0" tIns="0" rIns="0" bIns="0" rtlCol="0" anchor="ctr"/>
          <a:lstStyle/>
          <a:p>
            <a:pPr indent="0" marL="0">
              <a:buNone/>
            </a:pPr>
            <a:r>
              <a:rPr lang="en-US" sz="1250" b="1" dirty="0">
                <a:solidFill>
                  <a:srgbClr val="9B2C22"/>
                </a:solidFill>
                <a:latin typeface="Calibri" pitchFamily="34" charset="0"/>
                <a:ea typeface="Calibri" pitchFamily="34" charset="-122"/>
                <a:cs typeface="Calibri" pitchFamily="34" charset="-120"/>
              </a:rPr>
              <a:t>brakeActuator.c  —  </a:t>
            </a:r>
            <a:pPr indent="0" marL="0">
              <a:buNone/>
            </a:pPr>
            <a:r>
              <a:rPr lang="en-US" sz="1250" dirty="0">
                <a:solidFill>
                  <a:srgbClr val="33395C"/>
                </a:solidFill>
                <a:latin typeface="Calibri" pitchFamily="34" charset="0"/>
                <a:ea typeface="Calibri" pitchFamily="34" charset="-122"/>
                <a:cs typeface="Calibri" pitchFamily="34" charset="-120"/>
              </a:rPr>
              <a:t>Brake ramp time shortened 400ms → 180ms, cited as "NCAP scoring guidance"</a:t>
            </a:r>
            <a:endParaRPr lang="en-US" sz="1250" dirty="0"/>
          </a:p>
        </p:txBody>
      </p:sp>
      <p:sp>
        <p:nvSpPr>
          <p:cNvPr id="11" name="Shape 9"/>
          <p:cNvSpPr/>
          <p:nvPr/>
        </p:nvSpPr>
        <p:spPr>
          <a:xfrm>
            <a:off x="10134295" y="2738628"/>
            <a:ext cx="1417320" cy="329184"/>
          </a:xfrm>
          <a:prstGeom prst="roundRect">
            <a:avLst>
              <a:gd name="adj" fmla="val 50000"/>
            </a:avLst>
          </a:prstGeom>
          <a:solidFill>
            <a:srgbClr val="9B2C22"/>
          </a:solidFill>
          <a:ln/>
        </p:spPr>
      </p:sp>
      <p:sp>
        <p:nvSpPr>
          <p:cNvPr id="12" name="Text 10"/>
          <p:cNvSpPr/>
          <p:nvPr/>
        </p:nvSpPr>
        <p:spPr>
          <a:xfrm>
            <a:off x="10134295" y="2738628"/>
            <a:ext cx="14173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OUT OF SCOPE</a:t>
            </a:r>
            <a:endParaRPr lang="en-US" sz="950" dirty="0"/>
          </a:p>
        </p:txBody>
      </p:sp>
      <p:sp>
        <p:nvSpPr>
          <p:cNvPr id="13" name="Shape 11"/>
          <p:cNvSpPr/>
          <p:nvPr/>
        </p:nvSpPr>
        <p:spPr>
          <a:xfrm>
            <a:off x="457200" y="3337560"/>
            <a:ext cx="11277295" cy="685800"/>
          </a:xfrm>
          <a:prstGeom prst="roundRect">
            <a:avLst>
              <a:gd name="adj" fmla="val 10667"/>
            </a:avLst>
          </a:prstGeom>
          <a:solidFill>
            <a:srgbClr val="FBEAE8"/>
          </a:solidFill>
          <a:ln/>
        </p:spPr>
      </p:sp>
      <p:sp>
        <p:nvSpPr>
          <p:cNvPr id="14" name="Text 12"/>
          <p:cNvSpPr/>
          <p:nvPr/>
        </p:nvSpPr>
        <p:spPr>
          <a:xfrm>
            <a:off x="685800" y="3337560"/>
            <a:ext cx="9357055" cy="685800"/>
          </a:xfrm>
          <a:prstGeom prst="rect">
            <a:avLst/>
          </a:prstGeom>
          <a:noFill/>
          <a:ln/>
        </p:spPr>
        <p:txBody>
          <a:bodyPr wrap="square" lIns="0" tIns="0" rIns="0" bIns="0" rtlCol="0" anchor="ctr"/>
          <a:lstStyle/>
          <a:p>
            <a:pPr indent="0" marL="0">
              <a:buNone/>
            </a:pPr>
            <a:r>
              <a:rPr lang="en-US" sz="1250" b="1" dirty="0">
                <a:solidFill>
                  <a:srgbClr val="9B2C22"/>
                </a:solidFill>
                <a:latin typeface="Calibri" pitchFamily="34" charset="0"/>
                <a:ea typeface="Calibri" pitchFamily="34" charset="-122"/>
                <a:cs typeface="Calibri" pitchFamily="34" charset="-120"/>
              </a:rPr>
              <a:t>aebStatusFrame.c  —  </a:t>
            </a:r>
            <a:pPr indent="0" marL="0">
              <a:buNone/>
            </a:pPr>
            <a:r>
              <a:rPr lang="en-US" sz="1250" dirty="0">
                <a:solidFill>
                  <a:srgbClr val="33395C"/>
                </a:solidFill>
                <a:latin typeface="Calibri" pitchFamily="34" charset="0"/>
                <a:ea typeface="Calibri" pitchFamily="34" charset="-122"/>
                <a:cs typeface="Calibri" pitchFamily="34" charset="-120"/>
              </a:rPr>
              <a:t>Added ttc_estimate_ms to the AEB status CAN frame for the infotainment team</a:t>
            </a:r>
            <a:endParaRPr lang="en-US" sz="1250" dirty="0"/>
          </a:p>
        </p:txBody>
      </p:sp>
      <p:sp>
        <p:nvSpPr>
          <p:cNvPr id="15" name="Shape 13"/>
          <p:cNvSpPr/>
          <p:nvPr/>
        </p:nvSpPr>
        <p:spPr>
          <a:xfrm>
            <a:off x="10134295" y="3515868"/>
            <a:ext cx="1417320" cy="329184"/>
          </a:xfrm>
          <a:prstGeom prst="roundRect">
            <a:avLst>
              <a:gd name="adj" fmla="val 50000"/>
            </a:avLst>
          </a:prstGeom>
          <a:solidFill>
            <a:srgbClr val="9B2C22"/>
          </a:solidFill>
          <a:ln/>
        </p:spPr>
      </p:sp>
      <p:sp>
        <p:nvSpPr>
          <p:cNvPr id="16" name="Text 14"/>
          <p:cNvSpPr/>
          <p:nvPr/>
        </p:nvSpPr>
        <p:spPr>
          <a:xfrm>
            <a:off x="10134295" y="3515868"/>
            <a:ext cx="14173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OUT OF SCOPE</a:t>
            </a:r>
            <a:endParaRPr lang="en-US" sz="950" dirty="0"/>
          </a:p>
        </p:txBody>
      </p:sp>
      <p:sp>
        <p:nvSpPr>
          <p:cNvPr id="17" name="Shape 15"/>
          <p:cNvSpPr/>
          <p:nvPr/>
        </p:nvSpPr>
        <p:spPr>
          <a:xfrm>
            <a:off x="457200" y="4114800"/>
            <a:ext cx="11277295" cy="685800"/>
          </a:xfrm>
          <a:prstGeom prst="roundRect">
            <a:avLst>
              <a:gd name="adj" fmla="val 10667"/>
            </a:avLst>
          </a:prstGeom>
          <a:solidFill>
            <a:srgbClr val="FBEAE8"/>
          </a:solidFill>
          <a:ln/>
        </p:spPr>
      </p:sp>
      <p:sp>
        <p:nvSpPr>
          <p:cNvPr id="18" name="Text 16"/>
          <p:cNvSpPr/>
          <p:nvPr/>
        </p:nvSpPr>
        <p:spPr>
          <a:xfrm>
            <a:off x="685800" y="4114800"/>
            <a:ext cx="9357055" cy="685800"/>
          </a:xfrm>
          <a:prstGeom prst="rect">
            <a:avLst/>
          </a:prstGeom>
          <a:noFill/>
          <a:ln/>
        </p:spPr>
        <p:txBody>
          <a:bodyPr wrap="square" lIns="0" tIns="0" rIns="0" bIns="0" rtlCol="0" anchor="ctr"/>
          <a:lstStyle/>
          <a:p>
            <a:pPr indent="0" marL="0">
              <a:buNone/>
            </a:pPr>
            <a:r>
              <a:rPr lang="en-US" sz="1250" b="1" dirty="0">
                <a:solidFill>
                  <a:srgbClr val="9B2C22"/>
                </a:solidFill>
                <a:latin typeface="Calibri" pitchFamily="34" charset="0"/>
                <a:ea typeface="Calibri" pitchFamily="34" charset="-122"/>
                <a:cs typeface="Calibri" pitchFamily="34" charset="-120"/>
              </a:rPr>
              <a:t>legacyRadarCanMap.c  —  </a:t>
            </a:r>
            <a:pPr indent="0" marL="0">
              <a:buNone/>
            </a:pPr>
            <a:r>
              <a:rPr lang="en-US" sz="1250" dirty="0">
                <a:solidFill>
                  <a:srgbClr val="33395C"/>
                </a:solidFill>
                <a:latin typeface="Calibri" pitchFamily="34" charset="0"/>
                <a:ea typeface="Calibri" pitchFamily="34" charset="-122"/>
                <a:cs typeface="Calibri" pitchFamily="34" charset="-120"/>
              </a:rPr>
              <a:t>Deleted the legacy radar hardware's CAN ID mapping entirely</a:t>
            </a:r>
            <a:endParaRPr lang="en-US" sz="1250" dirty="0"/>
          </a:p>
        </p:txBody>
      </p:sp>
      <p:sp>
        <p:nvSpPr>
          <p:cNvPr id="19" name="Shape 17"/>
          <p:cNvSpPr/>
          <p:nvPr/>
        </p:nvSpPr>
        <p:spPr>
          <a:xfrm>
            <a:off x="10134295" y="4293108"/>
            <a:ext cx="1417320" cy="329184"/>
          </a:xfrm>
          <a:prstGeom prst="roundRect">
            <a:avLst>
              <a:gd name="adj" fmla="val 50000"/>
            </a:avLst>
          </a:prstGeom>
          <a:solidFill>
            <a:srgbClr val="9B2C22"/>
          </a:solidFill>
          <a:ln/>
        </p:spPr>
      </p:sp>
      <p:sp>
        <p:nvSpPr>
          <p:cNvPr id="20" name="Text 18"/>
          <p:cNvSpPr/>
          <p:nvPr/>
        </p:nvSpPr>
        <p:spPr>
          <a:xfrm>
            <a:off x="10134295" y="4293108"/>
            <a:ext cx="14173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OUT OF SCOPE</a:t>
            </a:r>
            <a:endParaRPr lang="en-US" sz="950" dirty="0"/>
          </a:p>
        </p:txBody>
      </p:sp>
      <p:sp>
        <p:nvSpPr>
          <p:cNvPr id="21" name="Shape 19"/>
          <p:cNvSpPr/>
          <p:nvPr/>
        </p:nvSpPr>
        <p:spPr>
          <a:xfrm>
            <a:off x="457200" y="5029200"/>
            <a:ext cx="11277295" cy="1051560"/>
          </a:xfrm>
          <a:prstGeom prst="roundRect">
            <a:avLst>
              <a:gd name="adj" fmla="val 6957"/>
            </a:avLst>
          </a:prstGeom>
          <a:solidFill>
            <a:srgbClr val="FFF3DE"/>
          </a:solidFill>
          <a:ln/>
        </p:spPr>
      </p:sp>
      <p:sp>
        <p:nvSpPr>
          <p:cNvPr id="22" name="Shape 20"/>
          <p:cNvSpPr/>
          <p:nvPr/>
        </p:nvSpPr>
        <p:spPr>
          <a:xfrm>
            <a:off x="731520" y="5257800"/>
            <a:ext cx="384048" cy="384048"/>
          </a:xfrm>
          <a:prstGeom prst="ellipse">
            <a:avLst/>
          </a:prstGeom>
          <a:solidFill>
            <a:srgbClr val="FFFFFF"/>
          </a:solidFill>
          <a:ln/>
        </p:spPr>
      </p:sp>
      <p:sp>
        <p:nvSpPr>
          <p:cNvPr id="23" name="Text 21"/>
          <p:cNvSpPr/>
          <p:nvPr/>
        </p:nvSpPr>
        <p:spPr>
          <a:xfrm>
            <a:off x="731520" y="5257800"/>
            <a:ext cx="384048" cy="384048"/>
          </a:xfrm>
          <a:prstGeom prst="rect">
            <a:avLst/>
          </a:prstGeom>
          <a:noFill/>
          <a:ln/>
        </p:spPr>
        <p:txBody>
          <a:bodyPr wrap="square" lIns="0" tIns="0" rIns="0" bIns="0" rtlCol="0" anchor="ctr"/>
          <a:lstStyle/>
          <a:p>
            <a:pPr algn="ctr" indent="0" marL="0">
              <a:buNone/>
            </a:pPr>
            <a:r>
              <a:rPr lang="en-US" sz="1800" b="1" dirty="0">
                <a:solidFill>
                  <a:srgbClr val="8A5A00"/>
                </a:solidFill>
                <a:latin typeface="Calibri" pitchFamily="34" charset="0"/>
                <a:ea typeface="Calibri" pitchFamily="34" charset="-122"/>
                <a:cs typeface="Calibri" pitchFamily="34" charset="-120"/>
              </a:rPr>
              <a:t>i</a:t>
            </a:r>
            <a:endParaRPr lang="en-US" sz="1800" dirty="0"/>
          </a:p>
        </p:txBody>
      </p:sp>
      <p:sp>
        <p:nvSpPr>
          <p:cNvPr id="24" name="Text 22"/>
          <p:cNvSpPr/>
          <p:nvPr/>
        </p:nvSpPr>
        <p:spPr>
          <a:xfrm>
            <a:off x="1280160" y="5212080"/>
            <a:ext cx="10180015" cy="32004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Highest operational risk</a:t>
            </a:r>
            <a:endParaRPr lang="en-US" sz="1300" dirty="0"/>
          </a:p>
        </p:txBody>
      </p:sp>
      <p:sp>
        <p:nvSpPr>
          <p:cNvPr id="25" name="Text 23"/>
          <p:cNvSpPr/>
          <p:nvPr/>
        </p:nvSpPr>
        <p:spPr>
          <a:xfrm>
            <a:off x="1280160" y="5559552"/>
            <a:ext cx="10088575" cy="411480"/>
          </a:xfrm>
          <a:prstGeom prst="rect">
            <a:avLst/>
          </a:prstGeom>
          <a:noFill/>
          <a:ln/>
        </p:spPr>
        <p:txBody>
          <a:bodyPr wrap="square" lIns="0" tIns="0" rIns="0" bIns="0" rtlCol="0" anchor="ctr"/>
          <a:lstStyle/>
          <a:p>
            <a:pPr indent="0" marL="0">
              <a:buNone/>
            </a:pPr>
            <a:r>
              <a:rPr lang="en-US" sz="1150" dirty="0">
                <a:solidFill>
                  <a:srgbClr val="8A5A00"/>
                </a:solidFill>
                <a:latin typeface="Calibri" pitchFamily="34" charset="0"/>
                <a:ea typeface="Calibri" pitchFamily="34" charset="-122"/>
                <a:cs typeface="Calibri" pitchFamily="34" charset="-120"/>
              </a:rPr>
              <a:t>The CAN schema change (aebStatusFrame.c) is the riskiest item despite sounding benign — it silently changes a message contract another ECU (infotainment) depends on. All three out-of-scope changes are individually defensible-sounding; ticket AEB-99 explicitly excludes all three in its own "Out of scope" section.</a:t>
            </a:r>
            <a:endParaRPr lang="en-US" sz="1150" dirty="0"/>
          </a:p>
        </p:txBody>
      </p:sp>
      <p:sp>
        <p:nvSpPr>
          <p:cNvPr id="26" name="Text 24"/>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7B84A6"/>
                </a:solidFill>
                <a:latin typeface="Calibri" pitchFamily="34" charset="0"/>
                <a:ea typeface="Calibri" pitchFamily="34" charset="-122"/>
                <a:cs typeface="Calibri" pitchFamily="34" charset="-120"/>
              </a:rPr>
              <a:t>GENAI FOR TEST MANAGEMENT · TRACK 2</a:t>
            </a:r>
            <a:endParaRPr lang="en-US" sz="900" dirty="0"/>
          </a:p>
        </p:txBody>
      </p:sp>
      <p:sp>
        <p:nvSpPr>
          <p:cNvPr id="27" name="Text 25"/>
          <p:cNvSpPr/>
          <p:nvPr/>
        </p:nvSpPr>
        <p:spPr>
          <a:xfrm>
            <a:off x="10362895" y="6510528"/>
            <a:ext cx="1371600" cy="274320"/>
          </a:xfrm>
          <a:prstGeom prst="rect">
            <a:avLst/>
          </a:prstGeom>
          <a:noFill/>
          <a:ln/>
        </p:spPr>
        <p:txBody>
          <a:bodyPr wrap="square" lIns="0" tIns="0" rIns="0" bIns="0" rtlCol="0" anchor="ctr"/>
          <a:lstStyle/>
          <a:p>
            <a:pPr algn="r" indent="0" marL="0">
              <a:buNone/>
            </a:pPr>
            <a:r>
              <a:rPr lang="en-US" sz="900" dirty="0">
                <a:solidFill>
                  <a:srgbClr val="7B84A6"/>
                </a:solidFill>
                <a:latin typeface="Calibri" pitchFamily="34" charset="0"/>
                <a:ea typeface="Calibri" pitchFamily="34" charset="-122"/>
                <a:cs typeface="Calibri" pitchFamily="34" charset="-120"/>
              </a:rPr>
              <a:t>02 / 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MODULE 3 · SLIDE 2</a:t>
            </a:r>
            <a:endParaRPr lang="en-US" sz="1100" dirty="0"/>
          </a:p>
        </p:txBody>
      </p:sp>
      <p:sp>
        <p:nvSpPr>
          <p:cNvPr id="3" name="Text 1"/>
          <p:cNvSpPr/>
          <p:nvPr/>
        </p:nvSpPr>
        <p:spPr>
          <a:xfrm>
            <a:off x="457200" y="658368"/>
            <a:ext cx="10515600"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Requirement vs. Test-Result Coverage Check</a:t>
            </a:r>
            <a:endParaRPr lang="en-US" sz="3000" dirty="0"/>
          </a:p>
        </p:txBody>
      </p:sp>
      <p:sp>
        <p:nvSpPr>
          <p:cNvPr id="4" name="Text 2"/>
          <p:cNvSpPr/>
          <p:nvPr/>
        </p:nvSpPr>
        <p:spPr>
          <a:xfrm>
            <a:off x="457200" y="1371600"/>
            <a:ext cx="11277295" cy="320040"/>
          </a:xfrm>
          <a:prstGeom prst="rect">
            <a:avLst/>
          </a:prstGeom>
          <a:noFill/>
          <a:ln/>
        </p:spPr>
        <p:txBody>
          <a:bodyPr wrap="square" lIns="0" tIns="0" rIns="0" bIns="0" rtlCol="0" anchor="ctr"/>
          <a:lstStyle/>
          <a:p>
            <a:pPr indent="0" marL="0">
              <a:buNone/>
            </a:pPr>
            <a:r>
              <a:rPr lang="en-US" sz="1300" i="1" dirty="0">
                <a:solidFill>
                  <a:srgbClr val="7B84A6"/>
                </a:solidFill>
                <a:latin typeface="Calibri" pitchFamily="34" charset="0"/>
                <a:ea typeface="Calibri" pitchFamily="34" charset="-122"/>
                <a:cs typeface="Calibri" pitchFamily="34" charset="-120"/>
              </a:rPr>
              <a:t>Same skill as Slide 2, applied to requirements vs. this build's test-execution results</a:t>
            </a:r>
            <a:endParaRPr lang="en-US" sz="1300" dirty="0"/>
          </a:p>
        </p:txBody>
      </p:sp>
      <p:sp>
        <p:nvSpPr>
          <p:cNvPr id="5" name="Shape 3"/>
          <p:cNvSpPr/>
          <p:nvPr/>
        </p:nvSpPr>
        <p:spPr>
          <a:xfrm>
            <a:off x="457200" y="1783080"/>
            <a:ext cx="11277295" cy="457200"/>
          </a:xfrm>
          <a:prstGeom prst="roundRect">
            <a:avLst>
              <a:gd name="adj" fmla="val 16000"/>
            </a:avLst>
          </a:prstGeom>
          <a:solidFill>
            <a:srgbClr val="1E2761"/>
          </a:solidFill>
          <a:ln/>
        </p:spPr>
      </p:sp>
      <p:sp>
        <p:nvSpPr>
          <p:cNvPr id="6" name="Text 4"/>
          <p:cNvSpPr/>
          <p:nvPr/>
        </p:nvSpPr>
        <p:spPr>
          <a:xfrm>
            <a:off x="640080" y="1783080"/>
            <a:ext cx="12801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Requirement ID</a:t>
            </a:r>
            <a:endParaRPr lang="en-US" sz="1200" dirty="0"/>
          </a:p>
        </p:txBody>
      </p:sp>
      <p:sp>
        <p:nvSpPr>
          <p:cNvPr id="7" name="Text 5"/>
          <p:cNvSpPr/>
          <p:nvPr/>
        </p:nvSpPr>
        <p:spPr>
          <a:xfrm>
            <a:off x="2194560" y="1783080"/>
            <a:ext cx="56692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Title</a:t>
            </a:r>
            <a:endParaRPr lang="en-US" sz="1200" dirty="0"/>
          </a:p>
        </p:txBody>
      </p:sp>
      <p:sp>
        <p:nvSpPr>
          <p:cNvPr id="8" name="Text 6"/>
          <p:cNvSpPr/>
          <p:nvPr/>
        </p:nvSpPr>
        <p:spPr>
          <a:xfrm>
            <a:off x="8138160" y="1783080"/>
            <a:ext cx="12801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p>
        </p:txBody>
      </p:sp>
      <p:sp>
        <p:nvSpPr>
          <p:cNvPr id="9" name="Text 7"/>
          <p:cNvSpPr/>
          <p:nvPr/>
        </p:nvSpPr>
        <p:spPr>
          <a:xfrm>
            <a:off x="9692640" y="1783080"/>
            <a:ext cx="1950415"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p>
        </p:txBody>
      </p:sp>
      <p:sp>
        <p:nvSpPr>
          <p:cNvPr id="10" name="Shape 8"/>
          <p:cNvSpPr/>
          <p:nvPr/>
        </p:nvSpPr>
        <p:spPr>
          <a:xfrm>
            <a:off x="457200" y="2240280"/>
            <a:ext cx="11277295" cy="457200"/>
          </a:xfrm>
          <a:prstGeom prst="roundRect">
            <a:avLst>
              <a:gd name="adj" fmla="val 16000"/>
            </a:avLst>
          </a:prstGeom>
          <a:solidFill>
            <a:srgbClr val="F4F6FC"/>
          </a:solidFill>
          <a:ln/>
        </p:spPr>
      </p:sp>
      <p:sp>
        <p:nvSpPr>
          <p:cNvPr id="11" name="Text 9"/>
          <p:cNvSpPr/>
          <p:nvPr/>
        </p:nvSpPr>
        <p:spPr>
          <a:xfrm>
            <a:off x="640080" y="22402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AEB-99</a:t>
            </a:r>
            <a:endParaRPr lang="en-US" sz="1200" dirty="0"/>
          </a:p>
        </p:txBody>
      </p:sp>
      <p:sp>
        <p:nvSpPr>
          <p:cNvPr id="12" name="Text 10"/>
          <p:cNvSpPr/>
          <p:nvPr/>
        </p:nvSpPr>
        <p:spPr>
          <a:xfrm>
            <a:off x="2194560" y="2240280"/>
            <a:ext cx="566928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Radar plausibility validation</a:t>
            </a:r>
            <a:endParaRPr lang="en-US" sz="1200" dirty="0"/>
          </a:p>
        </p:txBody>
      </p:sp>
      <p:sp>
        <p:nvSpPr>
          <p:cNvPr id="13" name="Text 11"/>
          <p:cNvSpPr/>
          <p:nvPr/>
        </p:nvSpPr>
        <p:spPr>
          <a:xfrm>
            <a:off x="8138160" y="22402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Critical</a:t>
            </a:r>
            <a:endParaRPr lang="en-US" sz="1200" dirty="0"/>
          </a:p>
        </p:txBody>
      </p:sp>
      <p:sp>
        <p:nvSpPr>
          <p:cNvPr id="14" name="Text 12"/>
          <p:cNvSpPr/>
          <p:nvPr/>
        </p:nvSpPr>
        <p:spPr>
          <a:xfrm>
            <a:off x="9692640" y="2240280"/>
            <a:ext cx="1950415" cy="457200"/>
          </a:xfrm>
          <a:prstGeom prst="rect">
            <a:avLst/>
          </a:prstGeom>
          <a:noFill/>
          <a:ln/>
        </p:spPr>
        <p:txBody>
          <a:bodyPr wrap="square" lIns="0" tIns="0" rIns="0" bIns="0" rtlCol="0" anchor="ctr"/>
          <a:lstStyle/>
          <a:p>
            <a:pPr indent="0" marL="0">
              <a:buNone/>
            </a:pPr>
            <a:r>
              <a:rPr lang="en-US" sz="1200" b="1" dirty="0">
                <a:solidFill>
                  <a:srgbClr val="2C6B4F"/>
                </a:solidFill>
                <a:latin typeface="Calibri" pitchFamily="34" charset="0"/>
                <a:ea typeface="Calibri" pitchFamily="34" charset="-122"/>
                <a:cs typeface="Calibri" pitchFamily="34" charset="-120"/>
              </a:rPr>
              <a:t>Pass</a:t>
            </a:r>
            <a:endParaRPr lang="en-US" sz="1200" dirty="0"/>
          </a:p>
        </p:txBody>
      </p:sp>
      <p:sp>
        <p:nvSpPr>
          <p:cNvPr id="15" name="Shape 13"/>
          <p:cNvSpPr/>
          <p:nvPr/>
        </p:nvSpPr>
        <p:spPr>
          <a:xfrm>
            <a:off x="457200" y="2697480"/>
            <a:ext cx="11277295" cy="457200"/>
          </a:xfrm>
          <a:prstGeom prst="roundRect">
            <a:avLst>
              <a:gd name="adj" fmla="val 16000"/>
            </a:avLst>
          </a:prstGeom>
          <a:solidFill>
            <a:srgbClr val="FFFFFF"/>
          </a:solidFill>
          <a:ln/>
        </p:spPr>
      </p:sp>
      <p:sp>
        <p:nvSpPr>
          <p:cNvPr id="16" name="Text 14"/>
          <p:cNvSpPr/>
          <p:nvPr/>
        </p:nvSpPr>
        <p:spPr>
          <a:xfrm>
            <a:off x="640080" y="26974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AEB-101</a:t>
            </a:r>
            <a:endParaRPr lang="en-US" sz="1200" dirty="0"/>
          </a:p>
        </p:txBody>
      </p:sp>
      <p:sp>
        <p:nvSpPr>
          <p:cNvPr id="17" name="Text 15"/>
          <p:cNvSpPr/>
          <p:nvPr/>
        </p:nvSpPr>
        <p:spPr>
          <a:xfrm>
            <a:off x="2194560" y="2697480"/>
            <a:ext cx="566928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TTC re-evaluation after lock loss</a:t>
            </a:r>
            <a:endParaRPr lang="en-US" sz="1200" dirty="0"/>
          </a:p>
        </p:txBody>
      </p:sp>
      <p:sp>
        <p:nvSpPr>
          <p:cNvPr id="18" name="Text 16"/>
          <p:cNvSpPr/>
          <p:nvPr/>
        </p:nvSpPr>
        <p:spPr>
          <a:xfrm>
            <a:off x="8138160" y="26974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High</a:t>
            </a:r>
            <a:endParaRPr lang="en-US" sz="1200" dirty="0"/>
          </a:p>
        </p:txBody>
      </p:sp>
      <p:sp>
        <p:nvSpPr>
          <p:cNvPr id="19" name="Text 17"/>
          <p:cNvSpPr/>
          <p:nvPr/>
        </p:nvSpPr>
        <p:spPr>
          <a:xfrm>
            <a:off x="9692640" y="2697480"/>
            <a:ext cx="1950415" cy="457200"/>
          </a:xfrm>
          <a:prstGeom prst="rect">
            <a:avLst/>
          </a:prstGeom>
          <a:noFill/>
          <a:ln/>
        </p:spPr>
        <p:txBody>
          <a:bodyPr wrap="square" lIns="0" tIns="0" rIns="0" bIns="0" rtlCol="0" anchor="ctr"/>
          <a:lstStyle/>
          <a:p>
            <a:pPr indent="0" marL="0">
              <a:buNone/>
            </a:pPr>
            <a:r>
              <a:rPr lang="en-US" sz="1200" b="1" dirty="0">
                <a:solidFill>
                  <a:srgbClr val="2C6B4F"/>
                </a:solidFill>
                <a:latin typeface="Calibri" pitchFamily="34" charset="0"/>
                <a:ea typeface="Calibri" pitchFamily="34" charset="-122"/>
                <a:cs typeface="Calibri" pitchFamily="34" charset="-120"/>
              </a:rPr>
              <a:t>Pass</a:t>
            </a:r>
            <a:endParaRPr lang="en-US" sz="1200" dirty="0"/>
          </a:p>
        </p:txBody>
      </p:sp>
      <p:sp>
        <p:nvSpPr>
          <p:cNvPr id="20" name="Shape 18"/>
          <p:cNvSpPr/>
          <p:nvPr/>
        </p:nvSpPr>
        <p:spPr>
          <a:xfrm>
            <a:off x="457200" y="3154680"/>
            <a:ext cx="11277295" cy="457200"/>
          </a:xfrm>
          <a:prstGeom prst="roundRect">
            <a:avLst>
              <a:gd name="adj" fmla="val 16000"/>
            </a:avLst>
          </a:prstGeom>
          <a:solidFill>
            <a:srgbClr val="FFF3DE"/>
          </a:solidFill>
          <a:ln/>
        </p:spPr>
      </p:sp>
      <p:sp>
        <p:nvSpPr>
          <p:cNvPr id="21" name="Text 19"/>
          <p:cNvSpPr/>
          <p:nvPr/>
        </p:nvSpPr>
        <p:spPr>
          <a:xfrm>
            <a:off x="640080" y="31546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AEB-105</a:t>
            </a:r>
            <a:endParaRPr lang="en-US" sz="1200" dirty="0"/>
          </a:p>
        </p:txBody>
      </p:sp>
      <p:sp>
        <p:nvSpPr>
          <p:cNvPr id="22" name="Text 20"/>
          <p:cNvSpPr/>
          <p:nvPr/>
        </p:nvSpPr>
        <p:spPr>
          <a:xfrm>
            <a:off x="2194560" y="3154680"/>
            <a:ext cx="566928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Pre-collision warning latency</a:t>
            </a:r>
            <a:endParaRPr lang="en-US" sz="1200" dirty="0"/>
          </a:p>
        </p:txBody>
      </p:sp>
      <p:sp>
        <p:nvSpPr>
          <p:cNvPr id="23" name="Text 21"/>
          <p:cNvSpPr/>
          <p:nvPr/>
        </p:nvSpPr>
        <p:spPr>
          <a:xfrm>
            <a:off x="8138160" y="31546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Medium</a:t>
            </a:r>
            <a:endParaRPr lang="en-US" sz="1200" dirty="0"/>
          </a:p>
        </p:txBody>
      </p:sp>
      <p:sp>
        <p:nvSpPr>
          <p:cNvPr id="24" name="Text 22"/>
          <p:cNvSpPr/>
          <p:nvPr/>
        </p:nvSpPr>
        <p:spPr>
          <a:xfrm>
            <a:off x="9692640" y="3154680"/>
            <a:ext cx="1950415" cy="457200"/>
          </a:xfrm>
          <a:prstGeom prst="rect">
            <a:avLst/>
          </a:prstGeom>
          <a:noFill/>
          <a:ln/>
        </p:spPr>
        <p:txBody>
          <a:bodyPr wrap="square" lIns="0" tIns="0" rIns="0" bIns="0"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Failed</a:t>
            </a:r>
            <a:endParaRPr lang="en-US" sz="1200" dirty="0"/>
          </a:p>
        </p:txBody>
      </p:sp>
      <p:sp>
        <p:nvSpPr>
          <p:cNvPr id="25" name="Shape 23"/>
          <p:cNvSpPr/>
          <p:nvPr/>
        </p:nvSpPr>
        <p:spPr>
          <a:xfrm>
            <a:off x="457200" y="3611880"/>
            <a:ext cx="11277295" cy="457200"/>
          </a:xfrm>
          <a:prstGeom prst="roundRect">
            <a:avLst>
              <a:gd name="adj" fmla="val 16000"/>
            </a:avLst>
          </a:prstGeom>
          <a:solidFill>
            <a:srgbClr val="FFF3DE"/>
          </a:solidFill>
          <a:ln/>
        </p:spPr>
      </p:sp>
      <p:sp>
        <p:nvSpPr>
          <p:cNvPr id="26" name="Text 24"/>
          <p:cNvSpPr/>
          <p:nvPr/>
        </p:nvSpPr>
        <p:spPr>
          <a:xfrm>
            <a:off x="640080" y="36118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AEB-108</a:t>
            </a:r>
            <a:endParaRPr lang="en-US" sz="1200" dirty="0"/>
          </a:p>
        </p:txBody>
      </p:sp>
      <p:sp>
        <p:nvSpPr>
          <p:cNvPr id="27" name="Text 25"/>
          <p:cNvSpPr/>
          <p:nvPr/>
        </p:nvSpPr>
        <p:spPr>
          <a:xfrm>
            <a:off x="2194560" y="3611880"/>
            <a:ext cx="566928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Graceful degradation under sensor overload</a:t>
            </a:r>
            <a:endParaRPr lang="en-US" sz="1200" dirty="0"/>
          </a:p>
        </p:txBody>
      </p:sp>
      <p:sp>
        <p:nvSpPr>
          <p:cNvPr id="28" name="Text 26"/>
          <p:cNvSpPr/>
          <p:nvPr/>
        </p:nvSpPr>
        <p:spPr>
          <a:xfrm>
            <a:off x="8138160" y="36118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Critical</a:t>
            </a:r>
            <a:endParaRPr lang="en-US" sz="1200" dirty="0"/>
          </a:p>
        </p:txBody>
      </p:sp>
      <p:sp>
        <p:nvSpPr>
          <p:cNvPr id="29" name="Text 27"/>
          <p:cNvSpPr/>
          <p:nvPr/>
        </p:nvSpPr>
        <p:spPr>
          <a:xfrm>
            <a:off x="9692640" y="3611880"/>
            <a:ext cx="1950415" cy="457200"/>
          </a:xfrm>
          <a:prstGeom prst="rect">
            <a:avLst/>
          </a:prstGeom>
          <a:noFill/>
          <a:ln/>
        </p:spPr>
        <p:txBody>
          <a:bodyPr wrap="square" lIns="0" tIns="0" rIns="0" bIns="0" rtlCol="0" anchor="ctr"/>
          <a:lstStyle/>
          <a:p>
            <a:pPr indent="0" marL="0">
              <a:buNone/>
            </a:pPr>
            <a:r>
              <a:rPr lang="en-US" sz="1200" b="1" dirty="0">
                <a:solidFill>
                  <a:srgbClr val="8A5A00"/>
                </a:solidFill>
                <a:latin typeface="Calibri" pitchFamily="34" charset="0"/>
                <a:ea typeface="Calibri" pitchFamily="34" charset="-122"/>
                <a:cs typeface="Calibri" pitchFamily="34" charset="-120"/>
              </a:rPr>
              <a:t>Failed</a:t>
            </a:r>
            <a:endParaRPr lang="en-US" sz="1200" dirty="0"/>
          </a:p>
        </p:txBody>
      </p:sp>
      <p:sp>
        <p:nvSpPr>
          <p:cNvPr id="30" name="Shape 28"/>
          <p:cNvSpPr/>
          <p:nvPr/>
        </p:nvSpPr>
        <p:spPr>
          <a:xfrm>
            <a:off x="457200" y="4069080"/>
            <a:ext cx="11277295" cy="457200"/>
          </a:xfrm>
          <a:prstGeom prst="roundRect">
            <a:avLst>
              <a:gd name="adj" fmla="val 16000"/>
            </a:avLst>
          </a:prstGeom>
          <a:solidFill>
            <a:srgbClr val="FBEAE8"/>
          </a:solidFill>
          <a:ln/>
        </p:spPr>
      </p:sp>
      <p:sp>
        <p:nvSpPr>
          <p:cNvPr id="31" name="Text 29"/>
          <p:cNvSpPr/>
          <p:nvPr/>
        </p:nvSpPr>
        <p:spPr>
          <a:xfrm>
            <a:off x="640080" y="40690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AEB-114</a:t>
            </a:r>
            <a:endParaRPr lang="en-US" sz="1200" dirty="0"/>
          </a:p>
        </p:txBody>
      </p:sp>
      <p:sp>
        <p:nvSpPr>
          <p:cNvPr id="32" name="Text 30"/>
          <p:cNvSpPr/>
          <p:nvPr/>
        </p:nvSpPr>
        <p:spPr>
          <a:xfrm>
            <a:off x="2194560" y="4069080"/>
            <a:ext cx="566928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TTC recalculation on changing deceleration</a:t>
            </a:r>
            <a:endParaRPr lang="en-US" sz="1200" dirty="0"/>
          </a:p>
        </p:txBody>
      </p:sp>
      <p:sp>
        <p:nvSpPr>
          <p:cNvPr id="33" name="Text 31"/>
          <p:cNvSpPr/>
          <p:nvPr/>
        </p:nvSpPr>
        <p:spPr>
          <a:xfrm>
            <a:off x="8138160" y="4069080"/>
            <a:ext cx="1280160" cy="457200"/>
          </a:xfrm>
          <a:prstGeom prst="rect">
            <a:avLst/>
          </a:prstGeom>
          <a:noFill/>
          <a:ln/>
        </p:spPr>
        <p:txBody>
          <a:bodyPr wrap="square" lIns="0" tIns="0" rIns="0" bIns="0" rtlCol="0" anchor="ctr"/>
          <a:lstStyle/>
          <a:p>
            <a:pPr indent="0" marL="0">
              <a:buNone/>
            </a:pPr>
            <a:r>
              <a:rPr lang="en-US" sz="1200" dirty="0">
                <a:solidFill>
                  <a:srgbClr val="33395C"/>
                </a:solidFill>
                <a:latin typeface="Calibri" pitchFamily="34" charset="0"/>
                <a:ea typeface="Calibri" pitchFamily="34" charset="-122"/>
                <a:cs typeface="Calibri" pitchFamily="34" charset="-120"/>
              </a:rPr>
              <a:t>Critical</a:t>
            </a:r>
            <a:endParaRPr lang="en-US" sz="1200" dirty="0"/>
          </a:p>
        </p:txBody>
      </p:sp>
      <p:sp>
        <p:nvSpPr>
          <p:cNvPr id="34" name="Text 32"/>
          <p:cNvSpPr/>
          <p:nvPr/>
        </p:nvSpPr>
        <p:spPr>
          <a:xfrm>
            <a:off x="9692640" y="4069080"/>
            <a:ext cx="1950415" cy="457200"/>
          </a:xfrm>
          <a:prstGeom prst="rect">
            <a:avLst/>
          </a:prstGeom>
          <a:noFill/>
          <a:ln/>
        </p:spPr>
        <p:txBody>
          <a:bodyPr wrap="square" lIns="0" tIns="0" rIns="0" bIns="0" rtlCol="0" anchor="ctr"/>
          <a:lstStyle/>
          <a:p>
            <a:pPr indent="0" marL="0">
              <a:buNone/>
            </a:pPr>
            <a:r>
              <a:rPr lang="en-US" sz="1200" b="1" dirty="0">
                <a:solidFill>
                  <a:srgbClr val="9B2C22"/>
                </a:solidFill>
                <a:latin typeface="Calibri" pitchFamily="34" charset="0"/>
                <a:ea typeface="Calibri" pitchFamily="34" charset="-122"/>
                <a:cs typeface="Calibri" pitchFamily="34" charset="-120"/>
              </a:rPr>
              <a:t>No Test — Gap</a:t>
            </a:r>
            <a:endParaRPr lang="en-US" sz="1200" dirty="0"/>
          </a:p>
        </p:txBody>
      </p:sp>
      <p:sp>
        <p:nvSpPr>
          <p:cNvPr id="35" name="Shape 33"/>
          <p:cNvSpPr/>
          <p:nvPr/>
        </p:nvSpPr>
        <p:spPr>
          <a:xfrm>
            <a:off x="457200" y="4663440"/>
            <a:ext cx="11277295" cy="1051560"/>
          </a:xfrm>
          <a:prstGeom prst="roundRect">
            <a:avLst>
              <a:gd name="adj" fmla="val 6957"/>
            </a:avLst>
          </a:prstGeom>
          <a:solidFill>
            <a:srgbClr val="FFF3DE"/>
          </a:solidFill>
          <a:ln/>
        </p:spPr>
      </p:sp>
      <p:sp>
        <p:nvSpPr>
          <p:cNvPr id="36" name="Shape 34"/>
          <p:cNvSpPr/>
          <p:nvPr/>
        </p:nvSpPr>
        <p:spPr>
          <a:xfrm>
            <a:off x="731520" y="4892040"/>
            <a:ext cx="384048" cy="384048"/>
          </a:xfrm>
          <a:prstGeom prst="ellipse">
            <a:avLst/>
          </a:prstGeom>
          <a:solidFill>
            <a:srgbClr val="FFFFFF"/>
          </a:solidFill>
          <a:ln/>
        </p:spPr>
      </p:sp>
      <p:sp>
        <p:nvSpPr>
          <p:cNvPr id="37" name="Text 35"/>
          <p:cNvSpPr/>
          <p:nvPr/>
        </p:nvSpPr>
        <p:spPr>
          <a:xfrm>
            <a:off x="731520" y="4892040"/>
            <a:ext cx="384048" cy="384048"/>
          </a:xfrm>
          <a:prstGeom prst="rect">
            <a:avLst/>
          </a:prstGeom>
          <a:noFill/>
          <a:ln/>
        </p:spPr>
        <p:txBody>
          <a:bodyPr wrap="square" lIns="0" tIns="0" rIns="0" bIns="0" rtlCol="0" anchor="ctr"/>
          <a:lstStyle/>
          <a:p>
            <a:pPr algn="ctr" indent="0" marL="0">
              <a:buNone/>
            </a:pPr>
            <a:r>
              <a:rPr lang="en-US" sz="1800" b="1" dirty="0">
                <a:solidFill>
                  <a:srgbClr val="8A5A00"/>
                </a:solidFill>
                <a:latin typeface="Calibri" pitchFamily="34" charset="0"/>
                <a:ea typeface="Calibri" pitchFamily="34" charset="-122"/>
                <a:cs typeface="Calibri" pitchFamily="34" charset="-120"/>
              </a:rPr>
              <a:t>i</a:t>
            </a:r>
            <a:endParaRPr lang="en-US" sz="1800" dirty="0"/>
          </a:p>
        </p:txBody>
      </p:sp>
      <p:sp>
        <p:nvSpPr>
          <p:cNvPr id="38" name="Text 36"/>
          <p:cNvSpPr/>
          <p:nvPr/>
        </p:nvSpPr>
        <p:spPr>
          <a:xfrm>
            <a:off x="1280160" y="4846320"/>
            <a:ext cx="10180015" cy="32004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"No test" and "test failed" are different problems</a:t>
            </a:r>
            <a:endParaRPr lang="en-US" sz="1300" dirty="0"/>
          </a:p>
        </p:txBody>
      </p:sp>
      <p:sp>
        <p:nvSpPr>
          <p:cNvPr id="39" name="Text 37"/>
          <p:cNvSpPr/>
          <p:nvPr/>
        </p:nvSpPr>
        <p:spPr>
          <a:xfrm>
            <a:off x="1280160" y="5193792"/>
            <a:ext cx="10088575" cy="411480"/>
          </a:xfrm>
          <a:prstGeom prst="rect">
            <a:avLst/>
          </a:prstGeom>
          <a:noFill/>
          <a:ln/>
        </p:spPr>
        <p:txBody>
          <a:bodyPr wrap="square" lIns="0" tIns="0" rIns="0" bIns="0" rtlCol="0" anchor="ctr"/>
          <a:lstStyle/>
          <a:p>
            <a:pPr indent="0" marL="0">
              <a:buNone/>
            </a:pPr>
            <a:r>
              <a:rPr lang="en-US" sz="1150" dirty="0">
                <a:solidFill>
                  <a:srgbClr val="8A5A00"/>
                </a:solidFill>
                <a:latin typeface="Calibri" pitchFamily="34" charset="0"/>
                <a:ea typeface="Calibri" pitchFamily="34" charset="-122"/>
                <a:cs typeface="Calibri" pitchFamily="34" charset="-120"/>
              </a:rPr>
              <a:t>AEB-114 has zero coverage on a requirement that maps to an already-open Critical defect (QAM-306, Module 2's sandbox) — arguably the most urgent finding here, and it wouldn't show up at all in a report that only looks at pass/fail results. In ASPICE-assessed environments this is the same distinction requirements-traceability reviews are built to catch.</a:t>
            </a:r>
            <a:endParaRPr lang="en-US" sz="1150" dirty="0"/>
          </a:p>
        </p:txBody>
      </p:sp>
      <p:sp>
        <p:nvSpPr>
          <p:cNvPr id="40" name="Text 3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7B84A6"/>
                </a:solidFill>
                <a:latin typeface="Calibri" pitchFamily="34" charset="0"/>
                <a:ea typeface="Calibri" pitchFamily="34" charset="-122"/>
                <a:cs typeface="Calibri" pitchFamily="34" charset="-120"/>
              </a:rPr>
              <a:t>GENAI FOR TEST MANAGEMENT · TRACK 2</a:t>
            </a:r>
            <a:endParaRPr lang="en-US" sz="900" dirty="0"/>
          </a:p>
        </p:txBody>
      </p:sp>
      <p:sp>
        <p:nvSpPr>
          <p:cNvPr id="41" name="Text 39"/>
          <p:cNvSpPr/>
          <p:nvPr/>
        </p:nvSpPr>
        <p:spPr>
          <a:xfrm>
            <a:off x="10362895" y="6510528"/>
            <a:ext cx="1371600" cy="274320"/>
          </a:xfrm>
          <a:prstGeom prst="rect">
            <a:avLst/>
          </a:prstGeom>
          <a:noFill/>
          <a:ln/>
        </p:spPr>
        <p:txBody>
          <a:bodyPr wrap="square" lIns="0" tIns="0" rIns="0" bIns="0" rtlCol="0" anchor="ctr"/>
          <a:lstStyle/>
          <a:p>
            <a:pPr algn="r" indent="0" marL="0">
              <a:buNone/>
            </a:pPr>
            <a:r>
              <a:rPr lang="en-US" sz="900" dirty="0">
                <a:solidFill>
                  <a:srgbClr val="7B84A6"/>
                </a:solidFill>
                <a:latin typeface="Calibri" pitchFamily="34" charset="0"/>
                <a:ea typeface="Calibri" pitchFamily="34" charset="-122"/>
                <a:cs typeface="Calibri" pitchFamily="34" charset="-120"/>
              </a:rPr>
              <a:t>03 / 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MODULE 3 · SLIDE 3</a:t>
            </a:r>
            <a:endParaRPr lang="en-US" sz="1100" dirty="0"/>
          </a:p>
        </p:txBody>
      </p:sp>
      <p:sp>
        <p:nvSpPr>
          <p:cNvPr id="3" name="Text 1"/>
          <p:cNvSpPr/>
          <p:nvPr/>
        </p:nvSpPr>
        <p:spPr>
          <a:xfrm>
            <a:off x="457200" y="658368"/>
            <a:ext cx="10515600"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Why "Advisory-Only" Is the Right Default</a:t>
            </a:r>
            <a:endParaRPr lang="en-US" sz="3000" dirty="0"/>
          </a:p>
        </p:txBody>
      </p:sp>
      <p:sp>
        <p:nvSpPr>
          <p:cNvPr id="4" name="Shape 2"/>
          <p:cNvSpPr/>
          <p:nvPr/>
        </p:nvSpPr>
        <p:spPr>
          <a:xfrm>
            <a:off x="457200" y="1691640"/>
            <a:ext cx="1765249" cy="1051560"/>
          </a:xfrm>
          <a:prstGeom prst="roundRect">
            <a:avLst>
              <a:gd name="adj" fmla="val 6957"/>
            </a:avLst>
          </a:prstGeom>
          <a:solidFill>
            <a:srgbClr val="F4F6FC"/>
          </a:solidFill>
          <a:ln/>
          <a:effectLst>
            <a:outerShdw sx="100000" sy="100000" kx="0" ky="0" algn="bl" rotWithShape="0" blurRad="101600" dist="38100" dir="5400000">
              <a:srgbClr val="1E2761">
                <a:alpha val="12000"/>
              </a:srgbClr>
            </a:outerShdw>
          </a:effectLst>
        </p:spPr>
      </p:sp>
      <p:sp>
        <p:nvSpPr>
          <p:cNvPr id="5" name="Text 3"/>
          <p:cNvSpPr/>
          <p:nvPr/>
        </p:nvSpPr>
        <p:spPr>
          <a:xfrm>
            <a:off x="548640" y="1691640"/>
            <a:ext cx="1582369"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Fairness</a:t>
            </a:r>
            <a:endParaRPr lang="en-US" sz="1050" dirty="0"/>
          </a:p>
        </p:txBody>
      </p:sp>
      <p:sp>
        <p:nvSpPr>
          <p:cNvPr id="6" name="Shape 4"/>
          <p:cNvSpPr/>
          <p:nvPr/>
        </p:nvSpPr>
        <p:spPr>
          <a:xfrm>
            <a:off x="2359609" y="1691640"/>
            <a:ext cx="1765249" cy="1051560"/>
          </a:xfrm>
          <a:prstGeom prst="roundRect">
            <a:avLst>
              <a:gd name="adj" fmla="val 6957"/>
            </a:avLst>
          </a:prstGeom>
          <a:solidFill>
            <a:srgbClr val="F4F6FC"/>
          </a:solidFill>
          <a:ln/>
          <a:effectLst>
            <a:outerShdw sx="100000" sy="100000" kx="0" ky="0" algn="bl" rotWithShape="0" blurRad="101600" dist="38100" dir="5400000">
              <a:srgbClr val="1E2761">
                <a:alpha val="12000"/>
              </a:srgbClr>
            </a:outerShdw>
          </a:effectLst>
        </p:spPr>
      </p:sp>
      <p:sp>
        <p:nvSpPr>
          <p:cNvPr id="7" name="Text 5"/>
          <p:cNvSpPr/>
          <p:nvPr/>
        </p:nvSpPr>
        <p:spPr>
          <a:xfrm>
            <a:off x="2451049" y="1691640"/>
            <a:ext cx="1582369"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Reliability &amp; Safety</a:t>
            </a:r>
            <a:endParaRPr lang="en-US" sz="1050" dirty="0"/>
          </a:p>
        </p:txBody>
      </p:sp>
      <p:sp>
        <p:nvSpPr>
          <p:cNvPr id="8" name="Shape 6"/>
          <p:cNvSpPr/>
          <p:nvPr/>
        </p:nvSpPr>
        <p:spPr>
          <a:xfrm>
            <a:off x="4262018" y="1691640"/>
            <a:ext cx="1765249" cy="1051560"/>
          </a:xfrm>
          <a:prstGeom prst="roundRect">
            <a:avLst>
              <a:gd name="adj" fmla="val 6957"/>
            </a:avLst>
          </a:prstGeom>
          <a:solidFill>
            <a:srgbClr val="F4F6FC"/>
          </a:solidFill>
          <a:ln/>
          <a:effectLst>
            <a:outerShdw sx="100000" sy="100000" kx="0" ky="0" algn="bl" rotWithShape="0" blurRad="101600" dist="38100" dir="5400000">
              <a:srgbClr val="1E2761">
                <a:alpha val="12000"/>
              </a:srgbClr>
            </a:outerShdw>
          </a:effectLst>
        </p:spPr>
      </p:sp>
      <p:sp>
        <p:nvSpPr>
          <p:cNvPr id="9" name="Text 7"/>
          <p:cNvSpPr/>
          <p:nvPr/>
        </p:nvSpPr>
        <p:spPr>
          <a:xfrm>
            <a:off x="4353458" y="1691640"/>
            <a:ext cx="1582369"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Privacy &amp; Security</a:t>
            </a:r>
            <a:endParaRPr lang="en-US" sz="1050" dirty="0"/>
          </a:p>
        </p:txBody>
      </p:sp>
      <p:sp>
        <p:nvSpPr>
          <p:cNvPr id="10" name="Shape 8"/>
          <p:cNvSpPr/>
          <p:nvPr/>
        </p:nvSpPr>
        <p:spPr>
          <a:xfrm>
            <a:off x="6164428" y="1691640"/>
            <a:ext cx="1765249" cy="1051560"/>
          </a:xfrm>
          <a:prstGeom prst="roundRect">
            <a:avLst>
              <a:gd name="adj" fmla="val 6957"/>
            </a:avLst>
          </a:prstGeom>
          <a:solidFill>
            <a:srgbClr val="F4F6FC"/>
          </a:solidFill>
          <a:ln/>
          <a:effectLst>
            <a:outerShdw sx="100000" sy="100000" kx="0" ky="0" algn="bl" rotWithShape="0" blurRad="101600" dist="38100" dir="5400000">
              <a:srgbClr val="1E2761">
                <a:alpha val="12000"/>
              </a:srgbClr>
            </a:outerShdw>
          </a:effectLst>
        </p:spPr>
      </p:sp>
      <p:sp>
        <p:nvSpPr>
          <p:cNvPr id="11" name="Text 9"/>
          <p:cNvSpPr/>
          <p:nvPr/>
        </p:nvSpPr>
        <p:spPr>
          <a:xfrm>
            <a:off x="6255868" y="1691640"/>
            <a:ext cx="1582369"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Inclusiveness</a:t>
            </a:r>
            <a:endParaRPr lang="en-US" sz="1050" dirty="0"/>
          </a:p>
        </p:txBody>
      </p:sp>
      <p:sp>
        <p:nvSpPr>
          <p:cNvPr id="12" name="Shape 10"/>
          <p:cNvSpPr/>
          <p:nvPr/>
        </p:nvSpPr>
        <p:spPr>
          <a:xfrm>
            <a:off x="8066837" y="1691640"/>
            <a:ext cx="1765249" cy="1051560"/>
          </a:xfrm>
          <a:prstGeom prst="roundRect">
            <a:avLst>
              <a:gd name="adj" fmla="val 6957"/>
            </a:avLst>
          </a:prstGeom>
          <a:solidFill>
            <a:srgbClr val="F4F6FC"/>
          </a:solidFill>
          <a:ln/>
          <a:effectLst>
            <a:outerShdw sx="100000" sy="100000" kx="0" ky="0" algn="bl" rotWithShape="0" blurRad="101600" dist="38100" dir="5400000">
              <a:srgbClr val="1E2761">
                <a:alpha val="12000"/>
              </a:srgbClr>
            </a:outerShdw>
          </a:effectLst>
        </p:spPr>
      </p:sp>
      <p:sp>
        <p:nvSpPr>
          <p:cNvPr id="13" name="Text 11"/>
          <p:cNvSpPr/>
          <p:nvPr/>
        </p:nvSpPr>
        <p:spPr>
          <a:xfrm>
            <a:off x="8158277" y="1691640"/>
            <a:ext cx="1582369"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Transparency</a:t>
            </a:r>
            <a:endParaRPr lang="en-US" sz="1050" dirty="0"/>
          </a:p>
        </p:txBody>
      </p:sp>
      <p:sp>
        <p:nvSpPr>
          <p:cNvPr id="14" name="Shape 12"/>
          <p:cNvSpPr/>
          <p:nvPr/>
        </p:nvSpPr>
        <p:spPr>
          <a:xfrm>
            <a:off x="9969246" y="1691640"/>
            <a:ext cx="1765249" cy="1051560"/>
          </a:xfrm>
          <a:prstGeom prst="roundRect">
            <a:avLst>
              <a:gd name="adj" fmla="val 6957"/>
            </a:avLst>
          </a:prstGeom>
          <a:solidFill>
            <a:srgbClr val="F4F6FC"/>
          </a:solidFill>
          <a:ln/>
          <a:effectLst>
            <a:outerShdw sx="100000" sy="100000" kx="0" ky="0" algn="bl" rotWithShape="0" blurRad="101600" dist="38100" dir="5400000">
              <a:srgbClr val="1E2761">
                <a:alpha val="12000"/>
              </a:srgbClr>
            </a:outerShdw>
          </a:effectLst>
        </p:spPr>
      </p:sp>
      <p:sp>
        <p:nvSpPr>
          <p:cNvPr id="15" name="Text 13"/>
          <p:cNvSpPr/>
          <p:nvPr/>
        </p:nvSpPr>
        <p:spPr>
          <a:xfrm>
            <a:off x="10060686" y="1691640"/>
            <a:ext cx="1582369"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Accountability</a:t>
            </a:r>
            <a:endParaRPr lang="en-US" sz="1050" dirty="0"/>
          </a:p>
        </p:txBody>
      </p:sp>
      <p:sp>
        <p:nvSpPr>
          <p:cNvPr id="16" name="Text 14"/>
          <p:cNvSpPr/>
          <p:nvPr/>
        </p:nvSpPr>
        <p:spPr>
          <a:xfrm>
            <a:off x="457200" y="2971800"/>
            <a:ext cx="11277295" cy="457200"/>
          </a:xfrm>
          <a:prstGeom prst="rect">
            <a:avLst/>
          </a:prstGeom>
          <a:noFill/>
          <a:ln/>
        </p:spPr>
        <p:txBody>
          <a:bodyPr wrap="square" lIns="0" tIns="0" rIns="0" bIns="0" rtlCol="0" anchor="ctr"/>
          <a:lstStyle/>
          <a:p>
            <a:pPr indent="0" marL="0">
              <a:buNone/>
            </a:pPr>
            <a:r>
              <a:rPr lang="en-US" sz="1300" i="1" dirty="0">
                <a:solidFill>
                  <a:srgbClr val="33395C"/>
                </a:solidFill>
                <a:latin typeface="Calibri" pitchFamily="34" charset="0"/>
                <a:ea typeface="Calibri" pitchFamily="34" charset="-122"/>
                <a:cs typeface="Calibri" pitchFamily="34" charset="-120"/>
              </a:rPr>
              <a:t>GitHub: Copilot "may not identify all of the problems... especially where changes are large or complex."</a:t>
            </a:r>
            <a:endParaRPr lang="en-US" sz="1300" dirty="0"/>
          </a:p>
        </p:txBody>
      </p:sp>
      <p:sp>
        <p:nvSpPr>
          <p:cNvPr id="17" name="Shape 15"/>
          <p:cNvSpPr/>
          <p:nvPr/>
        </p:nvSpPr>
        <p:spPr>
          <a:xfrm>
            <a:off x="457200" y="3520440"/>
            <a:ext cx="11277295" cy="1600200"/>
          </a:xfrm>
          <a:prstGeom prst="roundRect">
            <a:avLst>
              <a:gd name="adj" fmla="val 4571"/>
            </a:avLst>
          </a:prstGeom>
          <a:solidFill>
            <a:srgbClr val="FFF3DE"/>
          </a:solidFill>
          <a:ln/>
        </p:spPr>
      </p:sp>
      <p:sp>
        <p:nvSpPr>
          <p:cNvPr id="18" name="Shape 16"/>
          <p:cNvSpPr/>
          <p:nvPr/>
        </p:nvSpPr>
        <p:spPr>
          <a:xfrm>
            <a:off x="731520" y="3749040"/>
            <a:ext cx="384048" cy="384048"/>
          </a:xfrm>
          <a:prstGeom prst="ellipse">
            <a:avLst/>
          </a:prstGeom>
          <a:solidFill>
            <a:srgbClr val="FFFFFF"/>
          </a:solidFill>
          <a:ln/>
        </p:spPr>
      </p:sp>
      <p:sp>
        <p:nvSpPr>
          <p:cNvPr id="19" name="Text 17"/>
          <p:cNvSpPr/>
          <p:nvPr/>
        </p:nvSpPr>
        <p:spPr>
          <a:xfrm>
            <a:off x="731520" y="3749040"/>
            <a:ext cx="384048" cy="384048"/>
          </a:xfrm>
          <a:prstGeom prst="rect">
            <a:avLst/>
          </a:prstGeom>
          <a:noFill/>
          <a:ln/>
        </p:spPr>
        <p:txBody>
          <a:bodyPr wrap="square" lIns="0" tIns="0" rIns="0" bIns="0" rtlCol="0" anchor="ctr"/>
          <a:lstStyle/>
          <a:p>
            <a:pPr algn="ctr" indent="0" marL="0">
              <a:buNone/>
            </a:pPr>
            <a:r>
              <a:rPr lang="en-US" sz="1800" b="1" dirty="0">
                <a:solidFill>
                  <a:srgbClr val="8A5A00"/>
                </a:solidFill>
                <a:latin typeface="Calibri" pitchFamily="34" charset="0"/>
                <a:ea typeface="Calibri" pitchFamily="34" charset="-122"/>
                <a:cs typeface="Calibri" pitchFamily="34" charset="-120"/>
              </a:rPr>
              <a:t>i</a:t>
            </a:r>
            <a:endParaRPr lang="en-US" sz="1800" dirty="0"/>
          </a:p>
        </p:txBody>
      </p:sp>
      <p:sp>
        <p:nvSpPr>
          <p:cNvPr id="20" name="Text 18"/>
          <p:cNvSpPr/>
          <p:nvPr/>
        </p:nvSpPr>
        <p:spPr>
          <a:xfrm>
            <a:off x="1280160" y="3703320"/>
            <a:ext cx="10180015" cy="32004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In ISO 26262 environments</a:t>
            </a:r>
            <a:endParaRPr lang="en-US" sz="1300" dirty="0"/>
          </a:p>
        </p:txBody>
      </p:sp>
      <p:sp>
        <p:nvSpPr>
          <p:cNvPr id="21" name="Text 19"/>
          <p:cNvSpPr/>
          <p:nvPr/>
        </p:nvSpPr>
        <p:spPr>
          <a:xfrm>
            <a:off x="1280160" y="4050792"/>
            <a:ext cx="10088575" cy="960120"/>
          </a:xfrm>
          <a:prstGeom prst="rect">
            <a:avLst/>
          </a:prstGeom>
          <a:noFill/>
          <a:ln/>
        </p:spPr>
        <p:txBody>
          <a:bodyPr wrap="square" lIns="0" tIns="0" rIns="0" bIns="0" rtlCol="0" anchor="ctr"/>
          <a:lstStyle/>
          <a:p>
            <a:pPr indent="0" marL="0">
              <a:buNone/>
            </a:pPr>
            <a:r>
              <a:rPr lang="en-US" sz="1150" dirty="0">
                <a:solidFill>
                  <a:srgbClr val="8A5A00"/>
                </a:solidFill>
                <a:latin typeface="Calibri" pitchFamily="34" charset="0"/>
                <a:ea typeface="Calibri" pitchFamily="34" charset="-122"/>
                <a:cs typeface="Calibri" pitchFamily="34" charset="-120"/>
              </a:rPr>
              <a:t>Keeping AI output strictly advisory — never feeding it directly into a safety case or test-evidence package — is also what keeps it outside the standard's tool-qualification requirement (ISO 26262-8, clause 11: a tool needs qualification, at Tool Confidence Level 2 or 3, only if it could inject or fail to catch an error affecting a safety-relevant work product).</a:t>
            </a:r>
            <a:endParaRPr lang="en-US" sz="1150" dirty="0"/>
          </a:p>
        </p:txBody>
      </p:sp>
      <p:sp>
        <p:nvSpPr>
          <p:cNvPr id="22" name="Text 2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7B84A6"/>
                </a:solidFill>
                <a:latin typeface="Calibri" pitchFamily="34" charset="0"/>
                <a:ea typeface="Calibri" pitchFamily="34" charset="-122"/>
                <a:cs typeface="Calibri" pitchFamily="34" charset="-120"/>
              </a:rPr>
              <a:t>GENAI FOR TEST MANAGEMENT · TRACK 2</a:t>
            </a:r>
            <a:endParaRPr lang="en-US" sz="900" dirty="0"/>
          </a:p>
        </p:txBody>
      </p:sp>
      <p:sp>
        <p:nvSpPr>
          <p:cNvPr id="23" name="Text 21"/>
          <p:cNvSpPr/>
          <p:nvPr/>
        </p:nvSpPr>
        <p:spPr>
          <a:xfrm>
            <a:off x="10362895" y="6510528"/>
            <a:ext cx="1371600" cy="274320"/>
          </a:xfrm>
          <a:prstGeom prst="rect">
            <a:avLst/>
          </a:prstGeom>
          <a:noFill/>
          <a:ln/>
        </p:spPr>
        <p:txBody>
          <a:bodyPr wrap="square" lIns="0" tIns="0" rIns="0" bIns="0" rtlCol="0" anchor="ctr"/>
          <a:lstStyle/>
          <a:p>
            <a:pPr algn="r" indent="0" marL="0">
              <a:buNone/>
            </a:pPr>
            <a:r>
              <a:rPr lang="en-US" sz="900" dirty="0">
                <a:solidFill>
                  <a:srgbClr val="7B84A6"/>
                </a:solidFill>
                <a:latin typeface="Calibri" pitchFamily="34" charset="0"/>
                <a:ea typeface="Calibri" pitchFamily="34" charset="-122"/>
                <a:cs typeface="Calibri" pitchFamily="34" charset="-120"/>
              </a:rPr>
              <a:t>04 / 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MODULE 3 · SLIDE 4</a:t>
            </a:r>
            <a:endParaRPr lang="en-US" sz="1100" dirty="0"/>
          </a:p>
        </p:txBody>
      </p:sp>
      <p:sp>
        <p:nvSpPr>
          <p:cNvPr id="3" name="Text 1"/>
          <p:cNvSpPr/>
          <p:nvPr/>
        </p:nvSpPr>
        <p:spPr>
          <a:xfrm>
            <a:off x="457200" y="658368"/>
            <a:ext cx="10515600"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Responsible AI Use From a QA Leadership Seat</a:t>
            </a:r>
            <a:endParaRPr lang="en-US" sz="3000" dirty="0"/>
          </a:p>
        </p:txBody>
      </p:sp>
      <p:sp>
        <p:nvSpPr>
          <p:cNvPr id="4" name="Shape 2"/>
          <p:cNvSpPr/>
          <p:nvPr/>
        </p:nvSpPr>
        <p:spPr>
          <a:xfrm>
            <a:off x="457200" y="1828800"/>
            <a:ext cx="411480" cy="411480"/>
          </a:xfrm>
          <a:prstGeom prst="ellipse">
            <a:avLst/>
          </a:prstGeom>
          <a:solidFill>
            <a:srgbClr val="1E2761"/>
          </a:solidFill>
          <a:ln/>
        </p:spPr>
      </p:sp>
      <p:sp>
        <p:nvSpPr>
          <p:cNvPr id="5" name="Text 3"/>
          <p:cNvSpPr/>
          <p:nvPr/>
        </p:nvSpPr>
        <p:spPr>
          <a:xfrm>
            <a:off x="457200"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97280" y="1783080"/>
            <a:ext cx="10637215" cy="45720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External-facing or compliance artifact?</a:t>
            </a:r>
            <a:endParaRPr lang="en-US" sz="1400" dirty="0"/>
          </a:p>
        </p:txBody>
      </p:sp>
      <p:sp>
        <p:nvSpPr>
          <p:cNvPr id="7" name="Text 5"/>
          <p:cNvSpPr/>
          <p:nvPr/>
        </p:nvSpPr>
        <p:spPr>
          <a:xfrm>
            <a:off x="1097280" y="2212848"/>
            <a:ext cx="10637215" cy="457200"/>
          </a:xfrm>
          <a:prstGeom prst="rect">
            <a:avLst/>
          </a:prstGeom>
          <a:noFill/>
          <a:ln/>
        </p:spPr>
        <p:txBody>
          <a:bodyPr wrap="square" lIns="0" tIns="0" rIns="0" bIns="0" rtlCol="0" anchor="ctr"/>
          <a:lstStyle/>
          <a:p>
            <a:pPr indent="0" marL="0">
              <a:buNone/>
            </a:pPr>
            <a:r>
              <a:rPr lang="en-US" sz="1250" dirty="0">
                <a:solidFill>
                  <a:srgbClr val="33395C"/>
                </a:solidFill>
                <a:latin typeface="Calibri" pitchFamily="34" charset="0"/>
                <a:ea typeface="Calibri" pitchFamily="34" charset="-122"/>
                <a:cs typeface="Calibri" pitchFamily="34" charset="-120"/>
              </a:rPr>
              <a:t>→ Mandatory review</a:t>
            </a:r>
            <a:endParaRPr lang="en-US" sz="1250" dirty="0"/>
          </a:p>
        </p:txBody>
      </p:sp>
      <p:sp>
        <p:nvSpPr>
          <p:cNvPr id="8" name="Shape 6"/>
          <p:cNvSpPr/>
          <p:nvPr/>
        </p:nvSpPr>
        <p:spPr>
          <a:xfrm>
            <a:off x="457200" y="3063240"/>
            <a:ext cx="411480" cy="411480"/>
          </a:xfrm>
          <a:prstGeom prst="ellipse">
            <a:avLst/>
          </a:prstGeom>
          <a:solidFill>
            <a:srgbClr val="1E2761"/>
          </a:solidFill>
          <a:ln/>
        </p:spPr>
      </p:sp>
      <p:sp>
        <p:nvSpPr>
          <p:cNvPr id="9" name="Text 7"/>
          <p:cNvSpPr/>
          <p:nvPr/>
        </p:nvSpPr>
        <p:spPr>
          <a:xfrm>
            <a:off x="457200" y="30632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097280" y="3017520"/>
            <a:ext cx="10637215" cy="45720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Sensitive or proprietary data — OEM-proprietary requirements, ASIL-classified specs, customer PII?</a:t>
            </a:r>
            <a:endParaRPr lang="en-US" sz="1400" dirty="0"/>
          </a:p>
        </p:txBody>
      </p:sp>
      <p:sp>
        <p:nvSpPr>
          <p:cNvPr id="11" name="Text 9"/>
          <p:cNvSpPr/>
          <p:nvPr/>
        </p:nvSpPr>
        <p:spPr>
          <a:xfrm>
            <a:off x="1097280" y="3447288"/>
            <a:ext cx="10637215" cy="457200"/>
          </a:xfrm>
          <a:prstGeom prst="rect">
            <a:avLst/>
          </a:prstGeom>
          <a:noFill/>
          <a:ln/>
        </p:spPr>
        <p:txBody>
          <a:bodyPr wrap="square" lIns="0" tIns="0" rIns="0" bIns="0" rtlCol="0" anchor="ctr"/>
          <a:lstStyle/>
          <a:p>
            <a:pPr indent="0" marL="0">
              <a:buNone/>
            </a:pPr>
            <a:r>
              <a:rPr lang="en-US" sz="1250" dirty="0">
                <a:solidFill>
                  <a:srgbClr val="33395C"/>
                </a:solidFill>
                <a:latin typeface="Calibri" pitchFamily="34" charset="0"/>
                <a:ea typeface="Calibri" pitchFamily="34" charset="-122"/>
                <a:cs typeface="Calibri" pitchFamily="34" charset="-120"/>
              </a:rPr>
              <a:t>→ Check your NDA/data-handling policy before pasting into any prompt</a:t>
            </a:r>
            <a:endParaRPr lang="en-US" sz="1250" dirty="0"/>
          </a:p>
        </p:txBody>
      </p:sp>
      <p:sp>
        <p:nvSpPr>
          <p:cNvPr id="12" name="Shape 10"/>
          <p:cNvSpPr/>
          <p:nvPr/>
        </p:nvSpPr>
        <p:spPr>
          <a:xfrm>
            <a:off x="457200" y="4297680"/>
            <a:ext cx="411480" cy="411480"/>
          </a:xfrm>
          <a:prstGeom prst="ellipse">
            <a:avLst/>
          </a:prstGeom>
          <a:solidFill>
            <a:srgbClr val="1E2761"/>
          </a:solidFill>
          <a:ln/>
        </p:spPr>
      </p:sp>
      <p:sp>
        <p:nvSpPr>
          <p:cNvPr id="13" name="Text 11"/>
          <p:cNvSpPr/>
          <p:nvPr/>
        </p:nvSpPr>
        <p:spPr>
          <a:xfrm>
            <a:off x="457200" y="42976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097280" y="4251960"/>
            <a:ext cx="10637215" cy="45720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One-off draft vs. recurring automation?</a:t>
            </a:r>
            <a:endParaRPr lang="en-US" sz="1400" dirty="0"/>
          </a:p>
        </p:txBody>
      </p:sp>
      <p:sp>
        <p:nvSpPr>
          <p:cNvPr id="15" name="Text 13"/>
          <p:cNvSpPr/>
          <p:nvPr/>
        </p:nvSpPr>
        <p:spPr>
          <a:xfrm>
            <a:off x="1097280" y="4681728"/>
            <a:ext cx="10637215" cy="457200"/>
          </a:xfrm>
          <a:prstGeom prst="rect">
            <a:avLst/>
          </a:prstGeom>
          <a:noFill/>
          <a:ln/>
        </p:spPr>
        <p:txBody>
          <a:bodyPr wrap="square" lIns="0" tIns="0" rIns="0" bIns="0" rtlCol="0" anchor="ctr"/>
          <a:lstStyle/>
          <a:p>
            <a:pPr indent="0" marL="0">
              <a:buNone/>
            </a:pPr>
            <a:r>
              <a:rPr lang="en-US" sz="1250" dirty="0">
                <a:solidFill>
                  <a:srgbClr val="33395C"/>
                </a:solidFill>
                <a:latin typeface="Calibri" pitchFamily="34" charset="0"/>
                <a:ea typeface="Calibri" pitchFamily="34" charset="-122"/>
                <a:cs typeface="Calibri" pitchFamily="34" charset="-120"/>
              </a:rPr>
              <a:t>→ Recurring needs a periodic audit of the automation itself</a:t>
            </a:r>
            <a:endParaRPr lang="en-US" sz="1250" dirty="0"/>
          </a:p>
        </p:txBody>
      </p:sp>
      <p:sp>
        <p:nvSpPr>
          <p:cNvPr id="16" name="Text 14"/>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7B84A6"/>
                </a:solidFill>
                <a:latin typeface="Calibri" pitchFamily="34" charset="0"/>
                <a:ea typeface="Calibri" pitchFamily="34" charset="-122"/>
                <a:cs typeface="Calibri" pitchFamily="34" charset="-120"/>
              </a:rPr>
              <a:t>GENAI FOR TEST MANAGEMENT · TRACK 2</a:t>
            </a:r>
            <a:endParaRPr lang="en-US" sz="900" dirty="0"/>
          </a:p>
        </p:txBody>
      </p:sp>
      <p:sp>
        <p:nvSpPr>
          <p:cNvPr id="17" name="Text 15"/>
          <p:cNvSpPr/>
          <p:nvPr/>
        </p:nvSpPr>
        <p:spPr>
          <a:xfrm>
            <a:off x="10362895" y="6510528"/>
            <a:ext cx="1371600" cy="274320"/>
          </a:xfrm>
          <a:prstGeom prst="rect">
            <a:avLst/>
          </a:prstGeom>
          <a:noFill/>
          <a:ln/>
        </p:spPr>
        <p:txBody>
          <a:bodyPr wrap="square" lIns="0" tIns="0" rIns="0" bIns="0" rtlCol="0" anchor="ctr"/>
          <a:lstStyle/>
          <a:p>
            <a:pPr algn="r" indent="0" marL="0">
              <a:buNone/>
            </a:pPr>
            <a:r>
              <a:rPr lang="en-US" sz="900" dirty="0">
                <a:solidFill>
                  <a:srgbClr val="7B84A6"/>
                </a:solidFill>
                <a:latin typeface="Calibri" pitchFamily="34" charset="0"/>
                <a:ea typeface="Calibri" pitchFamily="34" charset="-122"/>
                <a:cs typeface="Calibri" pitchFamily="34" charset="-120"/>
              </a:rPr>
              <a:t>05 / 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MODULE 3 · SLIDE 5</a:t>
            </a:r>
            <a:endParaRPr lang="en-US" sz="1100" dirty="0"/>
          </a:p>
        </p:txBody>
      </p:sp>
      <p:sp>
        <p:nvSpPr>
          <p:cNvPr id="3" name="Text 1"/>
          <p:cNvSpPr/>
          <p:nvPr/>
        </p:nvSpPr>
        <p:spPr>
          <a:xfrm>
            <a:off x="457200" y="658368"/>
            <a:ext cx="10515600"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AI Governance and Ethics for QA</a:t>
            </a:r>
            <a:endParaRPr lang="en-US" sz="3000" dirty="0"/>
          </a:p>
        </p:txBody>
      </p:sp>
      <p:sp>
        <p:nvSpPr>
          <p:cNvPr id="4" name="Shape 2"/>
          <p:cNvSpPr/>
          <p:nvPr/>
        </p:nvSpPr>
        <p:spPr>
          <a:xfrm>
            <a:off x="457200" y="1783080"/>
            <a:ext cx="457200" cy="457200"/>
          </a:xfrm>
          <a:prstGeom prst="ellipse">
            <a:avLst/>
          </a:prstGeom>
          <a:solidFill>
            <a:srgbClr val="1E2761"/>
          </a:solidFill>
          <a:ln/>
        </p:spPr>
      </p:sp>
      <p:sp>
        <p:nvSpPr>
          <p:cNvPr id="5" name="Text 3"/>
          <p:cNvSpPr/>
          <p:nvPr/>
        </p:nvSpPr>
        <p:spPr>
          <a:xfrm>
            <a:off x="45720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755648"/>
            <a:ext cx="9601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Fairness</a:t>
            </a:r>
            <a:endParaRPr lang="en-US" sz="1500" dirty="0"/>
          </a:p>
        </p:txBody>
      </p:sp>
      <p:sp>
        <p:nvSpPr>
          <p:cNvPr id="7" name="Text 5"/>
          <p:cNvSpPr/>
          <p:nvPr/>
        </p:nvSpPr>
        <p:spPr>
          <a:xfrm>
            <a:off x="1143000" y="2121408"/>
            <a:ext cx="9601200" cy="457200"/>
          </a:xfrm>
          <a:prstGeom prst="rect">
            <a:avLst/>
          </a:prstGeom>
          <a:noFill/>
          <a:ln/>
        </p:spPr>
        <p:txBody>
          <a:bodyPr wrap="square" lIns="0" tIns="0" rIns="0" bIns="0" rtlCol="0" anchor="ctr"/>
          <a:lstStyle/>
          <a:p>
            <a:pPr indent="0" marL="0">
              <a:buNone/>
            </a:pPr>
            <a:r>
              <a:rPr lang="en-US" sz="1300" dirty="0">
                <a:solidFill>
                  <a:srgbClr val="33395C"/>
                </a:solidFill>
                <a:latin typeface="Calibri" pitchFamily="34" charset="0"/>
                <a:ea typeface="Calibri" pitchFamily="34" charset="-122"/>
                <a:cs typeface="Calibri" pitchFamily="34" charset="-120"/>
              </a:rPr>
              <a:t>Don't replace fair performance conversations with AI-flagged "risks."</a:t>
            </a:r>
            <a:endParaRPr lang="en-US" sz="1300" dirty="0"/>
          </a:p>
        </p:txBody>
      </p:sp>
      <p:sp>
        <p:nvSpPr>
          <p:cNvPr id="8" name="Shape 6"/>
          <p:cNvSpPr/>
          <p:nvPr/>
        </p:nvSpPr>
        <p:spPr>
          <a:xfrm>
            <a:off x="457200" y="2697480"/>
            <a:ext cx="457200" cy="457200"/>
          </a:xfrm>
          <a:prstGeom prst="ellipse">
            <a:avLst/>
          </a:prstGeom>
          <a:solidFill>
            <a:srgbClr val="1E2761"/>
          </a:solidFill>
          <a:ln/>
        </p:spPr>
      </p:sp>
      <p:sp>
        <p:nvSpPr>
          <p:cNvPr id="9" name="Text 7"/>
          <p:cNvSpPr/>
          <p:nvPr/>
        </p:nvSpPr>
        <p:spPr>
          <a:xfrm>
            <a:off x="45720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43000" y="2670048"/>
            <a:ext cx="9601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Transparency</a:t>
            </a:r>
            <a:endParaRPr lang="en-US" sz="1500" dirty="0"/>
          </a:p>
        </p:txBody>
      </p:sp>
      <p:sp>
        <p:nvSpPr>
          <p:cNvPr id="11" name="Text 9"/>
          <p:cNvSpPr/>
          <p:nvPr/>
        </p:nvSpPr>
        <p:spPr>
          <a:xfrm>
            <a:off x="1143000" y="3035808"/>
            <a:ext cx="9601200" cy="457200"/>
          </a:xfrm>
          <a:prstGeom prst="rect">
            <a:avLst/>
          </a:prstGeom>
          <a:noFill/>
          <a:ln/>
        </p:spPr>
        <p:txBody>
          <a:bodyPr wrap="square" lIns="0" tIns="0" rIns="0" bIns="0" rtlCol="0" anchor="ctr"/>
          <a:lstStyle/>
          <a:p>
            <a:pPr indent="0" marL="0">
              <a:buNone/>
            </a:pPr>
            <a:r>
              <a:rPr lang="en-US" sz="1300" dirty="0">
                <a:solidFill>
                  <a:srgbClr val="33395C"/>
                </a:solidFill>
                <a:latin typeface="Calibri" pitchFamily="34" charset="0"/>
                <a:ea typeface="Calibri" pitchFamily="34" charset="-122"/>
                <a:cs typeface="Calibri" pitchFamily="34" charset="-120"/>
              </a:rPr>
              <a:t>Disclose when a report was AI-assisted.</a:t>
            </a:r>
            <a:endParaRPr lang="en-US" sz="1300" dirty="0"/>
          </a:p>
        </p:txBody>
      </p:sp>
      <p:sp>
        <p:nvSpPr>
          <p:cNvPr id="12" name="Shape 10"/>
          <p:cNvSpPr/>
          <p:nvPr/>
        </p:nvSpPr>
        <p:spPr>
          <a:xfrm>
            <a:off x="457200" y="3611880"/>
            <a:ext cx="457200" cy="457200"/>
          </a:xfrm>
          <a:prstGeom prst="ellipse">
            <a:avLst/>
          </a:prstGeom>
          <a:solidFill>
            <a:srgbClr val="1E2761"/>
          </a:solidFill>
          <a:ln/>
        </p:spPr>
      </p:sp>
      <p:sp>
        <p:nvSpPr>
          <p:cNvPr id="13" name="Text 11"/>
          <p:cNvSpPr/>
          <p:nvPr/>
        </p:nvSpPr>
        <p:spPr>
          <a:xfrm>
            <a:off x="45720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143000" y="3584448"/>
            <a:ext cx="9601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Accountability</a:t>
            </a:r>
            <a:endParaRPr lang="en-US" sz="1500" dirty="0"/>
          </a:p>
        </p:txBody>
      </p:sp>
      <p:sp>
        <p:nvSpPr>
          <p:cNvPr id="15" name="Text 13"/>
          <p:cNvSpPr/>
          <p:nvPr/>
        </p:nvSpPr>
        <p:spPr>
          <a:xfrm>
            <a:off x="1143000" y="3950208"/>
            <a:ext cx="9601200" cy="457200"/>
          </a:xfrm>
          <a:prstGeom prst="rect">
            <a:avLst/>
          </a:prstGeom>
          <a:noFill/>
          <a:ln/>
        </p:spPr>
        <p:txBody>
          <a:bodyPr wrap="square" lIns="0" tIns="0" rIns="0" bIns="0" rtlCol="0" anchor="ctr"/>
          <a:lstStyle/>
          <a:p>
            <a:pPr indent="0" marL="0">
              <a:buNone/>
            </a:pPr>
            <a:r>
              <a:rPr lang="en-US" sz="1300" dirty="0">
                <a:solidFill>
                  <a:srgbClr val="33395C"/>
                </a:solidFill>
                <a:latin typeface="Calibri" pitchFamily="34" charset="0"/>
                <a:ea typeface="Calibri" pitchFamily="34" charset="-122"/>
                <a:cs typeface="Calibri" pitchFamily="34" charset="-120"/>
              </a:rPr>
              <a:t>A human always signs off.</a:t>
            </a:r>
            <a:endParaRPr lang="en-US" sz="1300" dirty="0"/>
          </a:p>
        </p:txBody>
      </p:sp>
      <p:sp>
        <p:nvSpPr>
          <p:cNvPr id="16" name="Shape 14"/>
          <p:cNvSpPr/>
          <p:nvPr/>
        </p:nvSpPr>
        <p:spPr>
          <a:xfrm>
            <a:off x="457200" y="4526280"/>
            <a:ext cx="457200" cy="457200"/>
          </a:xfrm>
          <a:prstGeom prst="ellipse">
            <a:avLst/>
          </a:prstGeom>
          <a:solidFill>
            <a:srgbClr val="1E2761"/>
          </a:solidFill>
          <a:ln/>
        </p:spPr>
      </p:sp>
      <p:sp>
        <p:nvSpPr>
          <p:cNvPr id="17" name="Text 15"/>
          <p:cNvSpPr/>
          <p:nvPr/>
        </p:nvSpPr>
        <p:spPr>
          <a:xfrm>
            <a:off x="45720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143000" y="4498848"/>
            <a:ext cx="9601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Data handling</a:t>
            </a:r>
            <a:endParaRPr lang="en-US" sz="1500" dirty="0"/>
          </a:p>
        </p:txBody>
      </p:sp>
      <p:sp>
        <p:nvSpPr>
          <p:cNvPr id="19" name="Text 17"/>
          <p:cNvSpPr/>
          <p:nvPr/>
        </p:nvSpPr>
        <p:spPr>
          <a:xfrm>
            <a:off x="1143000" y="4864608"/>
            <a:ext cx="9601200" cy="457200"/>
          </a:xfrm>
          <a:prstGeom prst="rect">
            <a:avLst/>
          </a:prstGeom>
          <a:noFill/>
          <a:ln/>
        </p:spPr>
        <p:txBody>
          <a:bodyPr wrap="square" lIns="0" tIns="0" rIns="0" bIns="0" rtlCol="0" anchor="ctr"/>
          <a:lstStyle/>
          <a:p>
            <a:pPr indent="0" marL="0">
              <a:buNone/>
            </a:pPr>
            <a:r>
              <a:rPr lang="en-US" sz="1300" dirty="0">
                <a:solidFill>
                  <a:srgbClr val="33395C"/>
                </a:solidFill>
                <a:latin typeface="Calibri" pitchFamily="34" charset="0"/>
                <a:ea typeface="Calibri" pitchFamily="34" charset="-122"/>
                <a:cs typeface="Calibri" pitchFamily="34" charset="-120"/>
              </a:rPr>
              <a:t>Synthetic/sanitized by default; real production data only under existing org policy.</a:t>
            </a:r>
            <a:endParaRPr lang="en-US" sz="1300" dirty="0"/>
          </a:p>
        </p:txBody>
      </p:sp>
      <p:sp>
        <p:nvSpPr>
          <p:cNvPr id="20"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7B84A6"/>
                </a:solidFill>
                <a:latin typeface="Calibri" pitchFamily="34" charset="0"/>
                <a:ea typeface="Calibri" pitchFamily="34" charset="-122"/>
                <a:cs typeface="Calibri" pitchFamily="34" charset="-120"/>
              </a:rPr>
              <a:t>GENAI FOR TEST MANAGEMENT · TRACK 2</a:t>
            </a:r>
            <a:endParaRPr lang="en-US" sz="900" dirty="0"/>
          </a:p>
        </p:txBody>
      </p:sp>
      <p:sp>
        <p:nvSpPr>
          <p:cNvPr id="21" name="Text 19"/>
          <p:cNvSpPr/>
          <p:nvPr/>
        </p:nvSpPr>
        <p:spPr>
          <a:xfrm>
            <a:off x="10362895" y="6510528"/>
            <a:ext cx="1371600" cy="274320"/>
          </a:xfrm>
          <a:prstGeom prst="rect">
            <a:avLst/>
          </a:prstGeom>
          <a:noFill/>
          <a:ln/>
        </p:spPr>
        <p:txBody>
          <a:bodyPr wrap="square" lIns="0" tIns="0" rIns="0" bIns="0" rtlCol="0" anchor="ctr"/>
          <a:lstStyle/>
          <a:p>
            <a:pPr algn="r" indent="0" marL="0">
              <a:buNone/>
            </a:pPr>
            <a:r>
              <a:rPr lang="en-US" sz="900" dirty="0">
                <a:solidFill>
                  <a:srgbClr val="7B84A6"/>
                </a:solidFill>
                <a:latin typeface="Calibri" pitchFamily="34" charset="0"/>
                <a:ea typeface="Calibri" pitchFamily="34" charset="-122"/>
                <a:cs typeface="Calibri" pitchFamily="34" charset="-120"/>
              </a:rPr>
              <a:t>06 /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MODULE 3 · SLIDE 6</a:t>
            </a:r>
            <a:endParaRPr lang="en-US" sz="1100" dirty="0"/>
          </a:p>
        </p:txBody>
      </p:sp>
      <p:sp>
        <p:nvSpPr>
          <p:cNvPr id="3" name="Text 1"/>
          <p:cNvSpPr/>
          <p:nvPr/>
        </p:nvSpPr>
        <p:spPr>
          <a:xfrm>
            <a:off x="457200" y="658368"/>
            <a:ext cx="10515600"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Validating AI Output: Reviewing Against a Source of Truth</a:t>
            </a:r>
            <a:endParaRPr lang="en-US" sz="3000" dirty="0"/>
          </a:p>
        </p:txBody>
      </p:sp>
      <p:sp>
        <p:nvSpPr>
          <p:cNvPr id="4" name="Text 2"/>
          <p:cNvSpPr/>
          <p:nvPr/>
        </p:nvSpPr>
        <p:spPr>
          <a:xfrm>
            <a:off x="457200" y="1645920"/>
            <a:ext cx="11277295" cy="365760"/>
          </a:xfrm>
          <a:prstGeom prst="rect">
            <a:avLst/>
          </a:prstGeom>
          <a:noFill/>
          <a:ln/>
        </p:spPr>
        <p:txBody>
          <a:bodyPr wrap="square" lIns="0" tIns="0" rIns="0" bIns="0" rtlCol="0" anchor="ctr"/>
          <a:lstStyle/>
          <a:p>
            <a:pPr marL="342900" indent="-342900">
              <a:buSzPct val="100000"/>
              <a:buChar char="•"/>
            </a:pPr>
            <a:r>
              <a:rPr lang="en-US" sz="1350" dirty="0">
                <a:solidFill>
                  <a:srgbClr val="33395C"/>
                </a:solidFill>
                <a:latin typeface="Calibri" pitchFamily="34" charset="0"/>
                <a:ea typeface="Calibri" pitchFamily="34" charset="-122"/>
                <a:cs typeface="Calibri" pitchFamily="34" charset="-120"/>
              </a:rPr>
              <a:t>Compare AI output line-by-line against something already known to be correct</a:t>
            </a:r>
            <a:endParaRPr lang="en-US" sz="1350" dirty="0"/>
          </a:p>
        </p:txBody>
      </p:sp>
      <p:sp>
        <p:nvSpPr>
          <p:cNvPr id="5" name="Text 3"/>
          <p:cNvSpPr/>
          <p:nvPr/>
        </p:nvSpPr>
        <p:spPr>
          <a:xfrm>
            <a:off x="457200" y="2057400"/>
            <a:ext cx="11277295" cy="365760"/>
          </a:xfrm>
          <a:prstGeom prst="rect">
            <a:avLst/>
          </a:prstGeom>
          <a:noFill/>
          <a:ln/>
        </p:spPr>
        <p:txBody>
          <a:bodyPr wrap="square" lIns="0" tIns="0" rIns="0" bIns="0" rtlCol="0" anchor="ctr"/>
          <a:lstStyle/>
          <a:p>
            <a:pPr marL="342900" indent="-342900">
              <a:buSzPct val="100000"/>
              <a:buChar char="•"/>
            </a:pPr>
            <a:r>
              <a:rPr lang="en-US" sz="1350" dirty="0">
                <a:solidFill>
                  <a:srgbClr val="33395C"/>
                </a:solidFill>
                <a:latin typeface="Calibri" pitchFamily="34" charset="0"/>
                <a:ea typeface="Calibri" pitchFamily="34" charset="-122"/>
                <a:cs typeface="Calibri" pitchFamily="34" charset="-120"/>
              </a:rPr>
              <a:t>Scope check: re-open the ticket and check flagged items yourself</a:t>
            </a:r>
            <a:endParaRPr lang="en-US" sz="1350" dirty="0"/>
          </a:p>
        </p:txBody>
      </p:sp>
      <p:sp>
        <p:nvSpPr>
          <p:cNvPr id="6" name="Text 4"/>
          <p:cNvSpPr/>
          <p:nvPr/>
        </p:nvSpPr>
        <p:spPr>
          <a:xfrm>
            <a:off x="457200" y="2468880"/>
            <a:ext cx="11277295" cy="365760"/>
          </a:xfrm>
          <a:prstGeom prst="rect">
            <a:avLst/>
          </a:prstGeom>
          <a:noFill/>
          <a:ln/>
        </p:spPr>
        <p:txBody>
          <a:bodyPr wrap="square" lIns="0" tIns="0" rIns="0" bIns="0" rtlCol="0" anchor="ctr"/>
          <a:lstStyle/>
          <a:p>
            <a:pPr marL="342900" indent="-342900">
              <a:buSzPct val="100000"/>
              <a:buChar char="•"/>
            </a:pPr>
            <a:r>
              <a:rPr lang="en-US" sz="1350" dirty="0">
                <a:solidFill>
                  <a:srgbClr val="33395C"/>
                </a:solidFill>
                <a:latin typeface="Calibri" pitchFamily="34" charset="0"/>
                <a:ea typeface="Calibri" pitchFamily="34" charset="-122"/>
                <a:cs typeface="Calibri" pitchFamily="34" charset="-120"/>
              </a:rPr>
              <a:t>Coverage-gap list: compare against the answer key — note false positives and false negatives</a:t>
            </a:r>
            <a:endParaRPr lang="en-US" sz="1350" dirty="0"/>
          </a:p>
        </p:txBody>
      </p:sp>
      <p:sp>
        <p:nvSpPr>
          <p:cNvPr id="7" name="Shape 5"/>
          <p:cNvSpPr/>
          <p:nvPr/>
        </p:nvSpPr>
        <p:spPr>
          <a:xfrm>
            <a:off x="457200" y="3017520"/>
            <a:ext cx="5349240" cy="1691640"/>
          </a:xfrm>
          <a:prstGeom prst="roundRect">
            <a:avLst>
              <a:gd name="adj" fmla="val 4324"/>
            </a:avLst>
          </a:prstGeom>
          <a:solidFill>
            <a:srgbClr val="FBEAE8"/>
          </a:solidFill>
          <a:ln/>
          <a:effectLst>
            <a:outerShdw sx="100000" sy="100000" kx="0" ky="0" algn="bl" rotWithShape="0" blurRad="101600" dist="38100" dir="5400000">
              <a:srgbClr val="1E2761">
                <a:alpha val="12000"/>
              </a:srgbClr>
            </a:outerShdw>
          </a:effectLst>
        </p:spPr>
      </p:sp>
      <p:sp>
        <p:nvSpPr>
          <p:cNvPr id="8" name="Text 6"/>
          <p:cNvSpPr/>
          <p:nvPr/>
        </p:nvSpPr>
        <p:spPr>
          <a:xfrm>
            <a:off x="685800" y="3182112"/>
            <a:ext cx="4892040" cy="274320"/>
          </a:xfrm>
          <a:prstGeom prst="rect">
            <a:avLst/>
          </a:prstGeom>
          <a:noFill/>
          <a:ln/>
        </p:spPr>
        <p:txBody>
          <a:bodyPr wrap="square" lIns="0" tIns="0" rIns="0" bIns="0" rtlCol="0" anchor="ctr"/>
          <a:lstStyle/>
          <a:p>
            <a:pPr indent="0" marL="0">
              <a:buNone/>
            </a:pPr>
            <a:r>
              <a:rPr lang="en-US" sz="1000" b="1" spc="150" kern="0" dirty="0">
                <a:solidFill>
                  <a:srgbClr val="9B2C22"/>
                </a:solidFill>
                <a:latin typeface="Calibri" pitchFamily="34" charset="0"/>
                <a:ea typeface="Calibri" pitchFamily="34" charset="-122"/>
                <a:cs typeface="Calibri" pitchFamily="34" charset="-120"/>
              </a:rPr>
              <a:t>AI SAID</a:t>
            </a:r>
            <a:endParaRPr lang="en-US" sz="1000" dirty="0"/>
          </a:p>
        </p:txBody>
      </p:sp>
      <p:sp>
        <p:nvSpPr>
          <p:cNvPr id="9" name="Text 7"/>
          <p:cNvSpPr/>
          <p:nvPr/>
        </p:nvSpPr>
        <p:spPr>
          <a:xfrm>
            <a:off x="685800" y="3520440"/>
            <a:ext cx="4892040" cy="1097280"/>
          </a:xfrm>
          <a:prstGeom prst="rect">
            <a:avLst/>
          </a:prstGeom>
          <a:noFill/>
          <a:ln/>
        </p:spPr>
        <p:txBody>
          <a:bodyPr wrap="square" lIns="0" tIns="0" rIns="0" bIns="0" rtlCol="0" anchor="ctr"/>
          <a:lstStyle/>
          <a:p>
            <a:pPr indent="0" marL="0">
              <a:buNone/>
            </a:pPr>
            <a:r>
              <a:rPr lang="en-US" sz="1250" i="1" dirty="0">
                <a:solidFill>
                  <a:srgbClr val="9B2C22"/>
                </a:solidFill>
                <a:latin typeface="Calibri" pitchFamily="34" charset="0"/>
                <a:ea typeface="Calibri" pitchFamily="34" charset="-122"/>
                <a:cs typeface="Calibri" pitchFamily="34" charset="-120"/>
              </a:rPr>
              <a:t>"3 coverage gaps: AEB-105, AEB-108, AEB-114" — treated as equivalent findings.</a:t>
            </a:r>
            <a:endParaRPr lang="en-US" sz="1250" dirty="0"/>
          </a:p>
        </p:txBody>
      </p:sp>
      <p:sp>
        <p:nvSpPr>
          <p:cNvPr id="10" name="Shape 8"/>
          <p:cNvSpPr/>
          <p:nvPr/>
        </p:nvSpPr>
        <p:spPr>
          <a:xfrm>
            <a:off x="6080760" y="3017520"/>
            <a:ext cx="5349240" cy="1691640"/>
          </a:xfrm>
          <a:prstGeom prst="roundRect">
            <a:avLst>
              <a:gd name="adj" fmla="val 4324"/>
            </a:avLst>
          </a:prstGeom>
          <a:solidFill>
            <a:srgbClr val="E6F2EC"/>
          </a:solidFill>
          <a:ln/>
          <a:effectLst>
            <a:outerShdw sx="100000" sy="100000" kx="0" ky="0" algn="bl" rotWithShape="0" blurRad="101600" dist="38100" dir="5400000">
              <a:srgbClr val="1E2761">
                <a:alpha val="12000"/>
              </a:srgbClr>
            </a:outerShdw>
          </a:effectLst>
        </p:spPr>
      </p:sp>
      <p:sp>
        <p:nvSpPr>
          <p:cNvPr id="11" name="Text 9"/>
          <p:cNvSpPr/>
          <p:nvPr/>
        </p:nvSpPr>
        <p:spPr>
          <a:xfrm>
            <a:off x="6309360" y="3182112"/>
            <a:ext cx="4892040" cy="274320"/>
          </a:xfrm>
          <a:prstGeom prst="rect">
            <a:avLst/>
          </a:prstGeom>
          <a:noFill/>
          <a:ln/>
        </p:spPr>
        <p:txBody>
          <a:bodyPr wrap="square" lIns="0" tIns="0" rIns="0" bIns="0" rtlCol="0" anchor="ctr"/>
          <a:lstStyle/>
          <a:p>
            <a:pPr indent="0" marL="0">
              <a:buNone/>
            </a:pPr>
            <a:r>
              <a:rPr lang="en-US" sz="1000" b="1" spc="150" kern="0" dirty="0">
                <a:solidFill>
                  <a:srgbClr val="2C6B4F"/>
                </a:solidFill>
                <a:latin typeface="Calibri" pitchFamily="34" charset="0"/>
                <a:ea typeface="Calibri" pitchFamily="34" charset="-122"/>
                <a:cs typeface="Calibri" pitchFamily="34" charset="-120"/>
              </a:rPr>
              <a:t>ANSWER KEY SAYS</a:t>
            </a:r>
            <a:endParaRPr lang="en-US" sz="1000" dirty="0"/>
          </a:p>
        </p:txBody>
      </p:sp>
      <p:sp>
        <p:nvSpPr>
          <p:cNvPr id="12" name="Text 10"/>
          <p:cNvSpPr/>
          <p:nvPr/>
        </p:nvSpPr>
        <p:spPr>
          <a:xfrm>
            <a:off x="6309360" y="3520440"/>
            <a:ext cx="4892040" cy="1097280"/>
          </a:xfrm>
          <a:prstGeom prst="rect">
            <a:avLst/>
          </a:prstGeom>
          <a:noFill/>
          <a:ln/>
        </p:spPr>
        <p:txBody>
          <a:bodyPr wrap="square" lIns="0" tIns="0" rIns="0" bIns="0" rtlCol="0" anchor="ctr"/>
          <a:lstStyle/>
          <a:p>
            <a:pPr indent="0" marL="0">
              <a:buNone/>
            </a:pPr>
            <a:r>
              <a:rPr lang="en-US" sz="1250" dirty="0">
                <a:solidFill>
                  <a:srgbClr val="2C6B4F"/>
                </a:solidFill>
                <a:latin typeface="Calibri" pitchFamily="34" charset="0"/>
                <a:ea typeface="Calibri" pitchFamily="34" charset="-122"/>
                <a:cs typeface="Calibri" pitchFamily="34" charset="-120"/>
              </a:rPr>
              <a:t>AEB-105 &amp; AEB-108: tests exist but FAILED. AEB-114: NO test exists — and maps to open Critical defect QAM-306. Not the same problem.</a:t>
            </a:r>
            <a:endParaRPr lang="en-US" sz="1250" dirty="0"/>
          </a:p>
        </p:txBody>
      </p:sp>
      <p:sp>
        <p:nvSpPr>
          <p:cNvPr id="13" name="Shape 11"/>
          <p:cNvSpPr/>
          <p:nvPr/>
        </p:nvSpPr>
        <p:spPr>
          <a:xfrm>
            <a:off x="457200" y="4892040"/>
            <a:ext cx="11277295" cy="868680"/>
          </a:xfrm>
          <a:prstGeom prst="roundRect">
            <a:avLst>
              <a:gd name="adj" fmla="val 8421"/>
            </a:avLst>
          </a:prstGeom>
          <a:solidFill>
            <a:srgbClr val="FFF3DE"/>
          </a:solidFill>
          <a:ln/>
        </p:spPr>
      </p:sp>
      <p:sp>
        <p:nvSpPr>
          <p:cNvPr id="14" name="Shape 12"/>
          <p:cNvSpPr/>
          <p:nvPr/>
        </p:nvSpPr>
        <p:spPr>
          <a:xfrm>
            <a:off x="731520" y="5120640"/>
            <a:ext cx="384048" cy="384048"/>
          </a:xfrm>
          <a:prstGeom prst="ellipse">
            <a:avLst/>
          </a:prstGeom>
          <a:solidFill>
            <a:srgbClr val="FFFFFF"/>
          </a:solidFill>
          <a:ln/>
        </p:spPr>
      </p:sp>
      <p:sp>
        <p:nvSpPr>
          <p:cNvPr id="15" name="Text 13"/>
          <p:cNvSpPr/>
          <p:nvPr/>
        </p:nvSpPr>
        <p:spPr>
          <a:xfrm>
            <a:off x="731520" y="5120640"/>
            <a:ext cx="384048" cy="384048"/>
          </a:xfrm>
          <a:prstGeom prst="rect">
            <a:avLst/>
          </a:prstGeom>
          <a:noFill/>
          <a:ln/>
        </p:spPr>
        <p:txBody>
          <a:bodyPr wrap="square" lIns="0" tIns="0" rIns="0" bIns="0" rtlCol="0" anchor="ctr"/>
          <a:lstStyle/>
          <a:p>
            <a:pPr algn="ctr" indent="0" marL="0">
              <a:buNone/>
            </a:pPr>
            <a:r>
              <a:rPr lang="en-US" sz="1800" b="1" dirty="0">
                <a:solidFill>
                  <a:srgbClr val="8A5A00"/>
                </a:solidFill>
                <a:latin typeface="Calibri" pitchFamily="34" charset="0"/>
                <a:ea typeface="Calibri" pitchFamily="34" charset="-122"/>
                <a:cs typeface="Calibri" pitchFamily="34" charset="-120"/>
              </a:rPr>
              <a:t>i</a:t>
            </a:r>
            <a:endParaRPr lang="en-US" sz="1800" dirty="0"/>
          </a:p>
        </p:txBody>
      </p:sp>
      <p:sp>
        <p:nvSpPr>
          <p:cNvPr id="16" name="Text 14"/>
          <p:cNvSpPr/>
          <p:nvPr/>
        </p:nvSpPr>
        <p:spPr>
          <a:xfrm>
            <a:off x="1280160" y="5074920"/>
            <a:ext cx="10180015" cy="32004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This is a confirmation review</a:t>
            </a:r>
            <a:endParaRPr lang="en-US" sz="1300" dirty="0"/>
          </a:p>
        </p:txBody>
      </p:sp>
      <p:sp>
        <p:nvSpPr>
          <p:cNvPr id="17" name="Text 15"/>
          <p:cNvSpPr/>
          <p:nvPr/>
        </p:nvSpPr>
        <p:spPr>
          <a:xfrm>
            <a:off x="1280160" y="5422392"/>
            <a:ext cx="10088575" cy="228600"/>
          </a:xfrm>
          <a:prstGeom prst="rect">
            <a:avLst/>
          </a:prstGeom>
          <a:noFill/>
          <a:ln/>
        </p:spPr>
        <p:txBody>
          <a:bodyPr wrap="square" lIns="0" tIns="0" rIns="0" bIns="0" rtlCol="0" anchor="ctr"/>
          <a:lstStyle/>
          <a:p>
            <a:pPr indent="0" marL="0">
              <a:buNone/>
            </a:pPr>
            <a:r>
              <a:rPr lang="en-US" sz="1150" dirty="0">
                <a:solidFill>
                  <a:srgbClr val="8A5A00"/>
                </a:solidFill>
                <a:latin typeface="Calibri" pitchFamily="34" charset="0"/>
                <a:ea typeface="Calibri" pitchFamily="34" charset="-122"/>
                <a:cs typeface="Calibri" pitchFamily="34" charset="-120"/>
              </a:rPr>
              <a:t>The same review discipline higher-ASIL work products already require — just applied to an AI-assisted first pass instead of a human-only one.</a:t>
            </a:r>
            <a:endParaRPr lang="en-US" sz="1150" dirty="0"/>
          </a:p>
        </p:txBody>
      </p:sp>
      <p:sp>
        <p:nvSpPr>
          <p:cNvPr id="18" name="Text 1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7B84A6"/>
                </a:solidFill>
                <a:latin typeface="Calibri" pitchFamily="34" charset="0"/>
                <a:ea typeface="Calibri" pitchFamily="34" charset="-122"/>
                <a:cs typeface="Calibri" pitchFamily="34" charset="-120"/>
              </a:rPr>
              <a:t>GENAI FOR TEST MANAGEMENT · TRACK 2</a:t>
            </a:r>
            <a:endParaRPr lang="en-US" sz="900" dirty="0"/>
          </a:p>
        </p:txBody>
      </p:sp>
      <p:sp>
        <p:nvSpPr>
          <p:cNvPr id="19" name="Text 17"/>
          <p:cNvSpPr/>
          <p:nvPr/>
        </p:nvSpPr>
        <p:spPr>
          <a:xfrm>
            <a:off x="10362895" y="6510528"/>
            <a:ext cx="1371600" cy="274320"/>
          </a:xfrm>
          <a:prstGeom prst="rect">
            <a:avLst/>
          </a:prstGeom>
          <a:noFill/>
          <a:ln/>
        </p:spPr>
        <p:txBody>
          <a:bodyPr wrap="square" lIns="0" tIns="0" rIns="0" bIns="0" rtlCol="0" anchor="ctr"/>
          <a:lstStyle/>
          <a:p>
            <a:pPr algn="r" indent="0" marL="0">
              <a:buNone/>
            </a:pPr>
            <a:r>
              <a:rPr lang="en-US" sz="900" dirty="0">
                <a:solidFill>
                  <a:srgbClr val="7B84A6"/>
                </a:solidFill>
                <a:latin typeface="Calibri" pitchFamily="34" charset="0"/>
                <a:ea typeface="Calibri" pitchFamily="34" charset="-122"/>
                <a:cs typeface="Calibri" pitchFamily="34" charset="-120"/>
              </a:rPr>
              <a:t>07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MODULE 3 · SLIDE 7</a:t>
            </a:r>
            <a:endParaRPr lang="en-US" sz="1100" dirty="0"/>
          </a:p>
        </p:txBody>
      </p:sp>
      <p:sp>
        <p:nvSpPr>
          <p:cNvPr id="3" name="Text 1"/>
          <p:cNvSpPr/>
          <p:nvPr/>
        </p:nvSpPr>
        <p:spPr>
          <a:xfrm>
            <a:off x="457200" y="658368"/>
            <a:ext cx="10515600"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Recognizing When to Keep a Tool Advisory-Only</a:t>
            </a:r>
            <a:endParaRPr lang="en-US" sz="3000" dirty="0"/>
          </a:p>
        </p:txBody>
      </p:sp>
      <p:sp>
        <p:nvSpPr>
          <p:cNvPr id="4" name="Shape 2"/>
          <p:cNvSpPr/>
          <p:nvPr/>
        </p:nvSpPr>
        <p:spPr>
          <a:xfrm>
            <a:off x="1508760" y="1783080"/>
            <a:ext cx="4663440" cy="1897380"/>
          </a:xfrm>
          <a:prstGeom prst="rect">
            <a:avLst/>
          </a:prstGeom>
          <a:solidFill>
            <a:srgbClr val="FBEAE8"/>
          </a:solidFill>
          <a:ln/>
        </p:spPr>
      </p:sp>
      <p:sp>
        <p:nvSpPr>
          <p:cNvPr id="5" name="Shape 3"/>
          <p:cNvSpPr/>
          <p:nvPr/>
        </p:nvSpPr>
        <p:spPr>
          <a:xfrm>
            <a:off x="6172200" y="1783080"/>
            <a:ext cx="4663440" cy="1897380"/>
          </a:xfrm>
          <a:prstGeom prst="rect">
            <a:avLst/>
          </a:prstGeom>
          <a:solidFill>
            <a:srgbClr val="F4F6FC"/>
          </a:solidFill>
          <a:ln/>
        </p:spPr>
      </p:sp>
      <p:sp>
        <p:nvSpPr>
          <p:cNvPr id="6" name="Shape 4"/>
          <p:cNvSpPr/>
          <p:nvPr/>
        </p:nvSpPr>
        <p:spPr>
          <a:xfrm>
            <a:off x="1508760" y="3680460"/>
            <a:ext cx="4663440" cy="1897380"/>
          </a:xfrm>
          <a:prstGeom prst="rect">
            <a:avLst/>
          </a:prstGeom>
          <a:solidFill>
            <a:srgbClr val="F4F6FC"/>
          </a:solidFill>
          <a:ln/>
        </p:spPr>
      </p:sp>
      <p:sp>
        <p:nvSpPr>
          <p:cNvPr id="7" name="Shape 5"/>
          <p:cNvSpPr/>
          <p:nvPr/>
        </p:nvSpPr>
        <p:spPr>
          <a:xfrm>
            <a:off x="6172200" y="3680460"/>
            <a:ext cx="4663440" cy="1897380"/>
          </a:xfrm>
          <a:prstGeom prst="rect">
            <a:avLst/>
          </a:prstGeom>
          <a:solidFill>
            <a:srgbClr val="E6F2EC"/>
          </a:solidFill>
          <a:ln/>
        </p:spPr>
      </p:sp>
      <p:sp>
        <p:nvSpPr>
          <p:cNvPr id="8" name="Shape 6"/>
          <p:cNvSpPr/>
          <p:nvPr/>
        </p:nvSpPr>
        <p:spPr>
          <a:xfrm>
            <a:off x="1508760" y="1783080"/>
            <a:ext cx="9326880" cy="3794760"/>
          </a:xfrm>
          <a:prstGeom prst="rect">
            <a:avLst/>
          </a:prstGeom>
          <a:ln w="15875">
            <a:solidFill>
              <a:srgbClr val="7B84A6"/>
            </a:solidFill>
            <a:prstDash val="solid"/>
          </a:ln>
        </p:spPr>
      </p:sp>
      <p:sp>
        <p:nvSpPr>
          <p:cNvPr id="9" name="Shape 7"/>
          <p:cNvSpPr/>
          <p:nvPr/>
        </p:nvSpPr>
        <p:spPr>
          <a:xfrm>
            <a:off x="6172200" y="1783080"/>
            <a:ext cx="0" cy="3794760"/>
          </a:xfrm>
          <a:prstGeom prst="line">
            <a:avLst/>
          </a:prstGeom>
          <a:noFill/>
          <a:ln w="31750">
            <a:solidFill>
              <a:srgbClr val="FFFFFF"/>
            </a:solidFill>
            <a:prstDash val="solid"/>
          </a:ln>
        </p:spPr>
      </p:sp>
      <p:sp>
        <p:nvSpPr>
          <p:cNvPr id="10" name="Shape 8"/>
          <p:cNvSpPr/>
          <p:nvPr/>
        </p:nvSpPr>
        <p:spPr>
          <a:xfrm>
            <a:off x="1508760" y="3680460"/>
            <a:ext cx="9326880" cy="0"/>
          </a:xfrm>
          <a:prstGeom prst="line">
            <a:avLst/>
          </a:prstGeom>
          <a:noFill/>
          <a:ln w="31750">
            <a:solidFill>
              <a:srgbClr val="FFFFFF"/>
            </a:solidFill>
            <a:prstDash val="solid"/>
          </a:ln>
        </p:spPr>
      </p:sp>
      <p:sp>
        <p:nvSpPr>
          <p:cNvPr id="11" name="Text 9"/>
          <p:cNvSpPr/>
          <p:nvPr/>
        </p:nvSpPr>
        <p:spPr>
          <a:xfrm>
            <a:off x="548640" y="1764792"/>
            <a:ext cx="868680" cy="274320"/>
          </a:xfrm>
          <a:prstGeom prst="rect">
            <a:avLst/>
          </a:prstGeom>
          <a:noFill/>
          <a:ln/>
        </p:spPr>
        <p:txBody>
          <a:bodyPr wrap="square" lIns="0" tIns="0" rIns="0" bIns="0" rtlCol="0" anchor="ctr"/>
          <a:lstStyle/>
          <a:p>
            <a:pPr algn="r" indent="0" marL="0">
              <a:buNone/>
            </a:pPr>
            <a:r>
              <a:rPr lang="en-US" sz="1000" b="1" dirty="0">
                <a:solidFill>
                  <a:srgbClr val="7B84A6"/>
                </a:solidFill>
                <a:latin typeface="Calibri" pitchFamily="34" charset="0"/>
                <a:ea typeface="Calibri" pitchFamily="34" charset="-122"/>
                <a:cs typeface="Calibri" pitchFamily="34" charset="-120"/>
              </a:rPr>
              <a:t>High stakes</a:t>
            </a:r>
            <a:endParaRPr lang="en-US" sz="1000" dirty="0"/>
          </a:p>
        </p:txBody>
      </p:sp>
      <p:sp>
        <p:nvSpPr>
          <p:cNvPr id="12" name="Text 10"/>
          <p:cNvSpPr/>
          <p:nvPr/>
        </p:nvSpPr>
        <p:spPr>
          <a:xfrm>
            <a:off x="548640" y="5321808"/>
            <a:ext cx="868680" cy="274320"/>
          </a:xfrm>
          <a:prstGeom prst="rect">
            <a:avLst/>
          </a:prstGeom>
          <a:noFill/>
          <a:ln/>
        </p:spPr>
        <p:txBody>
          <a:bodyPr wrap="square" lIns="0" tIns="0" rIns="0" bIns="0" rtlCol="0" anchor="ctr"/>
          <a:lstStyle/>
          <a:p>
            <a:pPr algn="r" indent="0" marL="0">
              <a:buNone/>
            </a:pPr>
            <a:r>
              <a:rPr lang="en-US" sz="1000" b="1" dirty="0">
                <a:solidFill>
                  <a:srgbClr val="7B84A6"/>
                </a:solidFill>
                <a:latin typeface="Calibri" pitchFamily="34" charset="0"/>
                <a:ea typeface="Calibri" pitchFamily="34" charset="-122"/>
                <a:cs typeface="Calibri" pitchFamily="34" charset="-120"/>
              </a:rPr>
              <a:t>Low stakes</a:t>
            </a:r>
            <a:endParaRPr lang="en-US" sz="1000" dirty="0"/>
          </a:p>
        </p:txBody>
      </p:sp>
      <p:sp>
        <p:nvSpPr>
          <p:cNvPr id="13" name="Text 11"/>
          <p:cNvSpPr/>
          <p:nvPr/>
        </p:nvSpPr>
        <p:spPr>
          <a:xfrm>
            <a:off x="1508760" y="5669280"/>
            <a:ext cx="4663440" cy="274320"/>
          </a:xfrm>
          <a:prstGeom prst="rect">
            <a:avLst/>
          </a:prstGeom>
          <a:noFill/>
          <a:ln/>
        </p:spPr>
        <p:txBody>
          <a:bodyPr wrap="square" lIns="0" tIns="0" rIns="0" bIns="0" rtlCol="0" anchor="ctr"/>
          <a:lstStyle/>
          <a:p>
            <a:pPr algn="l" indent="0" marL="0">
              <a:buNone/>
            </a:pPr>
            <a:r>
              <a:rPr lang="en-US" sz="1000" b="1" dirty="0">
                <a:solidFill>
                  <a:srgbClr val="7B84A6"/>
                </a:solidFill>
                <a:latin typeface="Calibri" pitchFamily="34" charset="0"/>
                <a:ea typeface="Calibri" pitchFamily="34" charset="-122"/>
                <a:cs typeface="Calibri" pitchFamily="34" charset="-120"/>
              </a:rPr>
              <a:t>Low verifiability</a:t>
            </a:r>
            <a:endParaRPr lang="en-US" sz="1000" dirty="0"/>
          </a:p>
        </p:txBody>
      </p:sp>
      <p:sp>
        <p:nvSpPr>
          <p:cNvPr id="14" name="Text 12"/>
          <p:cNvSpPr/>
          <p:nvPr/>
        </p:nvSpPr>
        <p:spPr>
          <a:xfrm>
            <a:off x="6172200" y="5669280"/>
            <a:ext cx="4663440" cy="274320"/>
          </a:xfrm>
          <a:prstGeom prst="rect">
            <a:avLst/>
          </a:prstGeom>
          <a:noFill/>
          <a:ln/>
        </p:spPr>
        <p:txBody>
          <a:bodyPr wrap="square" lIns="0" tIns="0" rIns="0" bIns="0" rtlCol="0" anchor="ctr"/>
          <a:lstStyle/>
          <a:p>
            <a:pPr algn="r" indent="0" marL="0">
              <a:buNone/>
            </a:pPr>
            <a:r>
              <a:rPr lang="en-US" sz="1000" b="1" dirty="0">
                <a:solidFill>
                  <a:srgbClr val="7B84A6"/>
                </a:solidFill>
                <a:latin typeface="Calibri" pitchFamily="34" charset="0"/>
                <a:ea typeface="Calibri" pitchFamily="34" charset="-122"/>
                <a:cs typeface="Calibri" pitchFamily="34" charset="-120"/>
              </a:rPr>
              <a:t>High verifiability</a:t>
            </a:r>
            <a:endParaRPr lang="en-US" sz="1000" dirty="0"/>
          </a:p>
        </p:txBody>
      </p:sp>
      <p:sp>
        <p:nvSpPr>
          <p:cNvPr id="15" name="Text 13"/>
          <p:cNvSpPr/>
          <p:nvPr/>
        </p:nvSpPr>
        <p:spPr>
          <a:xfrm>
            <a:off x="1691640" y="1965960"/>
            <a:ext cx="4297680" cy="594360"/>
          </a:xfrm>
          <a:prstGeom prst="rect">
            <a:avLst/>
          </a:prstGeom>
          <a:noFill/>
          <a:ln/>
        </p:spPr>
        <p:txBody>
          <a:bodyPr wrap="square" lIns="0" tIns="0" rIns="0" bIns="0" rtlCol="0" anchor="ctr"/>
          <a:lstStyle/>
          <a:p>
            <a:pPr indent="0" marL="0">
              <a:buNone/>
            </a:pPr>
            <a:r>
              <a:rPr lang="en-US" sz="1050" b="1" dirty="0">
                <a:solidFill>
                  <a:srgbClr val="9B2C22"/>
                </a:solidFill>
                <a:latin typeface="Calibri" pitchFamily="34" charset="0"/>
                <a:ea typeface="Calibri" pitchFamily="34" charset="-122"/>
                <a:cs typeface="Calibri" pitchFamily="34" charset="-120"/>
              </a:rPr>
              <a:t>STRICTLY ADVISORY</a:t>
            </a:r>
            <a:endParaRPr lang="en-US" sz="1050" dirty="0"/>
          </a:p>
          <a:p>
            <a:pPr indent="0" marL="0">
              <a:buNone/>
            </a:pPr>
            <a:r>
              <a:rPr lang="en-US" sz="1050" b="1" dirty="0">
                <a:solidFill>
                  <a:srgbClr val="9B2C22"/>
                </a:solidFill>
                <a:latin typeface="Calibri" pitchFamily="34" charset="0"/>
                <a:ea typeface="Calibri" pitchFamily="34" charset="-122"/>
                <a:cs typeface="Calibri" pitchFamily="34" charset="-120"/>
              </a:rPr>
              <a:t>Mandatory human review</a:t>
            </a:r>
            <a:endParaRPr lang="en-US" sz="1050" dirty="0"/>
          </a:p>
        </p:txBody>
      </p:sp>
      <p:sp>
        <p:nvSpPr>
          <p:cNvPr id="16" name="Text 14"/>
          <p:cNvSpPr/>
          <p:nvPr/>
        </p:nvSpPr>
        <p:spPr>
          <a:xfrm>
            <a:off x="6355080" y="1965960"/>
            <a:ext cx="4297680" cy="548640"/>
          </a:xfrm>
          <a:prstGeom prst="rect">
            <a:avLst/>
          </a:prstGeom>
          <a:noFill/>
          <a:ln/>
        </p:spPr>
        <p:txBody>
          <a:bodyPr wrap="square" lIns="0" tIns="0" rIns="0" bIns="0" rtlCol="0" anchor="ctr"/>
          <a:lstStyle/>
          <a:p>
            <a:pPr indent="0" marL="0">
              <a:buNone/>
            </a:pPr>
            <a:r>
              <a:rPr lang="en-US" sz="1000" i="1" dirty="0">
                <a:solidFill>
                  <a:srgbClr val="7B84A6"/>
                </a:solidFill>
                <a:latin typeface="Calibri" pitchFamily="34" charset="0"/>
                <a:ea typeface="Calibri" pitchFamily="34" charset="-122"/>
                <a:cs typeface="Calibri" pitchFamily="34" charset="-120"/>
              </a:rPr>
              <a:t>Still review —</a:t>
            </a:r>
            <a:endParaRPr lang="en-US" sz="1000" dirty="0"/>
          </a:p>
          <a:p>
            <a:pPr indent="0" marL="0">
              <a:buNone/>
            </a:pPr>
            <a:r>
              <a:rPr lang="en-US" sz="1000" i="1" dirty="0">
                <a:solidFill>
                  <a:srgbClr val="7B84A6"/>
                </a:solidFill>
                <a:latin typeface="Calibri" pitchFamily="34" charset="0"/>
                <a:ea typeface="Calibri" pitchFamily="34" charset="-122"/>
                <a:cs typeface="Calibri" pitchFamily="34" charset="-120"/>
              </a:rPr>
              <a:t>stakes stay high</a:t>
            </a:r>
            <a:endParaRPr lang="en-US" sz="1000" dirty="0"/>
          </a:p>
        </p:txBody>
      </p:sp>
      <p:sp>
        <p:nvSpPr>
          <p:cNvPr id="17" name="Text 15"/>
          <p:cNvSpPr/>
          <p:nvPr/>
        </p:nvSpPr>
        <p:spPr>
          <a:xfrm>
            <a:off x="1691640" y="3863340"/>
            <a:ext cx="4297680" cy="548640"/>
          </a:xfrm>
          <a:prstGeom prst="rect">
            <a:avLst/>
          </a:prstGeom>
          <a:noFill/>
          <a:ln/>
        </p:spPr>
        <p:txBody>
          <a:bodyPr wrap="square" lIns="0" tIns="0" rIns="0" bIns="0" rtlCol="0" anchor="ctr"/>
          <a:lstStyle/>
          <a:p>
            <a:pPr indent="0" marL="0">
              <a:buNone/>
            </a:pPr>
            <a:r>
              <a:rPr lang="en-US" sz="1000" i="1" dirty="0">
                <a:solidFill>
                  <a:srgbClr val="7B84A6"/>
                </a:solidFill>
                <a:latin typeface="Calibri" pitchFamily="34" charset="0"/>
                <a:ea typeface="Calibri" pitchFamily="34" charset="-122"/>
                <a:cs typeface="Calibri" pitchFamily="34" charset="-120"/>
              </a:rPr>
              <a:t>Light-touch review —</a:t>
            </a:r>
            <a:endParaRPr lang="en-US" sz="1000" dirty="0"/>
          </a:p>
          <a:p>
            <a:pPr indent="0" marL="0">
              <a:buNone/>
            </a:pPr>
            <a:r>
              <a:rPr lang="en-US" sz="1000" i="1" dirty="0">
                <a:solidFill>
                  <a:srgbClr val="7B84A6"/>
                </a:solidFill>
                <a:latin typeface="Calibri" pitchFamily="34" charset="0"/>
                <a:ea typeface="Calibri" pitchFamily="34" charset="-122"/>
                <a:cs typeface="Calibri" pitchFamily="34" charset="-120"/>
              </a:rPr>
              <a:t>stakes are low</a:t>
            </a:r>
            <a:endParaRPr lang="en-US" sz="1000" dirty="0"/>
          </a:p>
        </p:txBody>
      </p:sp>
      <p:sp>
        <p:nvSpPr>
          <p:cNvPr id="18" name="Text 16"/>
          <p:cNvSpPr/>
          <p:nvPr/>
        </p:nvSpPr>
        <p:spPr>
          <a:xfrm>
            <a:off x="6355080" y="5120640"/>
            <a:ext cx="4297680" cy="320040"/>
          </a:xfrm>
          <a:prstGeom prst="rect">
            <a:avLst/>
          </a:prstGeom>
          <a:noFill/>
          <a:ln/>
        </p:spPr>
        <p:txBody>
          <a:bodyPr wrap="square" lIns="0" tIns="0" rIns="0" bIns="0" rtlCol="0" anchor="ctr"/>
          <a:lstStyle/>
          <a:p>
            <a:pPr indent="0" marL="0">
              <a:buNone/>
            </a:pPr>
            <a:r>
              <a:rPr lang="en-US" sz="1050" b="1" dirty="0">
                <a:solidFill>
                  <a:srgbClr val="2C6B4F"/>
                </a:solidFill>
                <a:latin typeface="Calibri" pitchFamily="34" charset="0"/>
                <a:ea typeface="Calibri" pitchFamily="34" charset="-122"/>
                <a:cs typeface="Calibri" pitchFamily="34" charset="-120"/>
              </a:rPr>
              <a:t>Safe to lean on more</a:t>
            </a:r>
            <a:endParaRPr lang="en-US" sz="1050" dirty="0"/>
          </a:p>
        </p:txBody>
      </p:sp>
      <p:sp>
        <p:nvSpPr>
          <p:cNvPr id="19" name="Shape 17"/>
          <p:cNvSpPr/>
          <p:nvPr/>
        </p:nvSpPr>
        <p:spPr>
          <a:xfrm>
            <a:off x="1801368" y="2697480"/>
            <a:ext cx="237744" cy="237744"/>
          </a:xfrm>
          <a:prstGeom prst="ellipse">
            <a:avLst/>
          </a:prstGeom>
          <a:solidFill>
            <a:srgbClr val="1E2761"/>
          </a:solidFill>
          <a:ln/>
        </p:spPr>
      </p:sp>
      <p:sp>
        <p:nvSpPr>
          <p:cNvPr id="20" name="Text 18"/>
          <p:cNvSpPr/>
          <p:nvPr/>
        </p:nvSpPr>
        <p:spPr>
          <a:xfrm>
            <a:off x="1801368" y="269748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2130552" y="2606040"/>
            <a:ext cx="3840480" cy="320040"/>
          </a:xfrm>
          <a:prstGeom prst="rect">
            <a:avLst/>
          </a:prstGeom>
          <a:noFill/>
          <a:ln/>
        </p:spPr>
        <p:txBody>
          <a:bodyPr wrap="square" lIns="0" tIns="0" rIns="0" bIns="0" rtlCol="0" anchor="ctr"/>
          <a:lstStyle/>
          <a:p>
            <a:pPr indent="0" marL="0">
              <a:buNone/>
            </a:pPr>
            <a:r>
              <a:rPr lang="en-US" sz="1050" dirty="0">
                <a:solidFill>
                  <a:srgbClr val="1E2761"/>
                </a:solidFill>
                <a:latin typeface="Calibri" pitchFamily="34" charset="0"/>
                <a:ea typeface="Calibri" pitchFamily="34" charset="-122"/>
                <a:cs typeface="Calibri" pitchFamily="34" charset="-120"/>
              </a:rPr>
              <a:t>Copilot Chat drafts (M1)</a:t>
            </a:r>
            <a:endParaRPr lang="en-US" sz="1050" dirty="0"/>
          </a:p>
        </p:txBody>
      </p:sp>
      <p:sp>
        <p:nvSpPr>
          <p:cNvPr id="22" name="Shape 20"/>
          <p:cNvSpPr/>
          <p:nvPr/>
        </p:nvSpPr>
        <p:spPr>
          <a:xfrm>
            <a:off x="1801368" y="3026664"/>
            <a:ext cx="237744" cy="237744"/>
          </a:xfrm>
          <a:prstGeom prst="ellipse">
            <a:avLst/>
          </a:prstGeom>
          <a:solidFill>
            <a:srgbClr val="1E2761"/>
          </a:solidFill>
          <a:ln/>
        </p:spPr>
      </p:sp>
      <p:sp>
        <p:nvSpPr>
          <p:cNvPr id="23" name="Text 21"/>
          <p:cNvSpPr/>
          <p:nvPr/>
        </p:nvSpPr>
        <p:spPr>
          <a:xfrm>
            <a:off x="1801368" y="3026664"/>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2130552" y="2935224"/>
            <a:ext cx="3840480" cy="320040"/>
          </a:xfrm>
          <a:prstGeom prst="rect">
            <a:avLst/>
          </a:prstGeom>
          <a:noFill/>
          <a:ln/>
        </p:spPr>
        <p:txBody>
          <a:bodyPr wrap="square" lIns="0" tIns="0" rIns="0" bIns="0" rtlCol="0" anchor="ctr"/>
          <a:lstStyle/>
          <a:p>
            <a:pPr indent="0" marL="0">
              <a:buNone/>
            </a:pPr>
            <a:r>
              <a:rPr lang="en-US" sz="1050" dirty="0">
                <a:solidFill>
                  <a:srgbClr val="1E2761"/>
                </a:solidFill>
                <a:latin typeface="Calibri" pitchFamily="34" charset="0"/>
                <a:ea typeface="Calibri" pitchFamily="34" charset="-122"/>
                <a:cs typeface="Calibri" pitchFamily="34" charset="-120"/>
              </a:rPr>
              <a:t>Jira + n8n reports (M2)</a:t>
            </a:r>
            <a:endParaRPr lang="en-US" sz="1050" dirty="0"/>
          </a:p>
        </p:txBody>
      </p:sp>
      <p:sp>
        <p:nvSpPr>
          <p:cNvPr id="25" name="Shape 23"/>
          <p:cNvSpPr/>
          <p:nvPr/>
        </p:nvSpPr>
        <p:spPr>
          <a:xfrm>
            <a:off x="1801368" y="3355848"/>
            <a:ext cx="237744" cy="237744"/>
          </a:xfrm>
          <a:prstGeom prst="ellipse">
            <a:avLst/>
          </a:prstGeom>
          <a:solidFill>
            <a:srgbClr val="1E2761"/>
          </a:solidFill>
          <a:ln/>
        </p:spPr>
      </p:sp>
      <p:sp>
        <p:nvSpPr>
          <p:cNvPr id="26" name="Text 24"/>
          <p:cNvSpPr/>
          <p:nvPr/>
        </p:nvSpPr>
        <p:spPr>
          <a:xfrm>
            <a:off x="1801368" y="3355848"/>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2130552" y="3264408"/>
            <a:ext cx="3840480" cy="320040"/>
          </a:xfrm>
          <a:prstGeom prst="rect">
            <a:avLst/>
          </a:prstGeom>
          <a:noFill/>
          <a:ln/>
        </p:spPr>
        <p:txBody>
          <a:bodyPr wrap="square" lIns="0" tIns="0" rIns="0" bIns="0" rtlCol="0" anchor="ctr"/>
          <a:lstStyle/>
          <a:p>
            <a:pPr indent="0" marL="0">
              <a:buNone/>
            </a:pPr>
            <a:r>
              <a:rPr lang="en-US" sz="1050" dirty="0">
                <a:solidFill>
                  <a:srgbClr val="1E2761"/>
                </a:solidFill>
                <a:latin typeface="Calibri" pitchFamily="34" charset="0"/>
                <a:ea typeface="Calibri" pitchFamily="34" charset="-122"/>
                <a:cs typeface="Calibri" pitchFamily="34" charset="-120"/>
              </a:rPr>
              <a:t>PR &amp; coverage checks (M3)</a:t>
            </a:r>
            <a:endParaRPr lang="en-US" sz="1050" dirty="0"/>
          </a:p>
        </p:txBody>
      </p:sp>
      <p:sp>
        <p:nvSpPr>
          <p:cNvPr id="28" name="Text 2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7B84A6"/>
                </a:solidFill>
                <a:latin typeface="Calibri" pitchFamily="34" charset="0"/>
                <a:ea typeface="Calibri" pitchFamily="34" charset="-122"/>
                <a:cs typeface="Calibri" pitchFamily="34" charset="-120"/>
              </a:rPr>
              <a:t>GENAI FOR TEST MANAGEMENT · TRACK 2</a:t>
            </a:r>
            <a:endParaRPr lang="en-US" sz="900" dirty="0"/>
          </a:p>
        </p:txBody>
      </p:sp>
      <p:sp>
        <p:nvSpPr>
          <p:cNvPr id="29" name="Text 27"/>
          <p:cNvSpPr/>
          <p:nvPr/>
        </p:nvSpPr>
        <p:spPr>
          <a:xfrm>
            <a:off x="10362895" y="6510528"/>
            <a:ext cx="1371600" cy="274320"/>
          </a:xfrm>
          <a:prstGeom prst="rect">
            <a:avLst/>
          </a:prstGeom>
          <a:noFill/>
          <a:ln/>
        </p:spPr>
        <p:txBody>
          <a:bodyPr wrap="square" lIns="0" tIns="0" rIns="0" bIns="0" rtlCol="0" anchor="ctr"/>
          <a:lstStyle/>
          <a:p>
            <a:pPr algn="r" indent="0" marL="0">
              <a:buNone/>
            </a:pPr>
            <a:r>
              <a:rPr lang="en-US" sz="900" dirty="0">
                <a:solidFill>
                  <a:srgbClr val="7B84A6"/>
                </a:solidFill>
                <a:latin typeface="Calibri" pitchFamily="34" charset="0"/>
                <a:ea typeface="Calibri" pitchFamily="34" charset="-122"/>
                <a:cs typeface="Calibri" pitchFamily="34" charset="-120"/>
              </a:rPr>
              <a:t>08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MODULE 3 · HANDS-ON</a:t>
            </a:r>
            <a:endParaRPr lang="en-US" sz="1100" dirty="0"/>
          </a:p>
        </p:txBody>
      </p:sp>
      <p:sp>
        <p:nvSpPr>
          <p:cNvPr id="3" name="Text 1"/>
          <p:cNvSpPr/>
          <p:nvPr/>
        </p:nvSpPr>
        <p:spPr>
          <a:xfrm>
            <a:off x="457200" y="658368"/>
            <a:ext cx="10515600"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Module 3 Lab</a:t>
            </a:r>
            <a:endParaRPr lang="en-US" sz="3000" dirty="0"/>
          </a:p>
        </p:txBody>
      </p:sp>
      <p:sp>
        <p:nvSpPr>
          <p:cNvPr id="4" name="Shape 2"/>
          <p:cNvSpPr/>
          <p:nvPr/>
        </p:nvSpPr>
        <p:spPr>
          <a:xfrm>
            <a:off x="457200" y="1828800"/>
            <a:ext cx="384048" cy="384048"/>
          </a:xfrm>
          <a:prstGeom prst="ellipse">
            <a:avLst/>
          </a:prstGeom>
          <a:solidFill>
            <a:srgbClr val="FFFFFF"/>
          </a:solidFill>
          <a:ln w="25400">
            <a:solidFill>
              <a:srgbClr val="1E2761"/>
            </a:solidFill>
            <a:prstDash val="solid"/>
          </a:ln>
        </p:spPr>
      </p:sp>
      <p:sp>
        <p:nvSpPr>
          <p:cNvPr id="5" name="Shape 3"/>
          <p:cNvSpPr/>
          <p:nvPr/>
        </p:nvSpPr>
        <p:spPr>
          <a:xfrm>
            <a:off x="1097280" y="1719072"/>
            <a:ext cx="10637215" cy="621792"/>
          </a:xfrm>
          <a:prstGeom prst="roundRect">
            <a:avLst>
              <a:gd name="adj" fmla="val 11765"/>
            </a:avLst>
          </a:prstGeom>
          <a:solidFill>
            <a:srgbClr val="F4F6FC"/>
          </a:solidFill>
          <a:ln/>
          <a:effectLst>
            <a:outerShdw sx="100000" sy="100000" kx="0" ky="0" algn="bl" rotWithShape="0" blurRad="101600" dist="38100" dir="5400000">
              <a:srgbClr val="1E2761">
                <a:alpha val="12000"/>
              </a:srgbClr>
            </a:outerShdw>
          </a:effectLst>
        </p:spPr>
      </p:sp>
      <p:sp>
        <p:nvSpPr>
          <p:cNvPr id="6" name="Text 4"/>
          <p:cNvSpPr/>
          <p:nvPr/>
        </p:nvSpPr>
        <p:spPr>
          <a:xfrm>
            <a:off x="1325880" y="1719072"/>
            <a:ext cx="10180015" cy="621792"/>
          </a:xfrm>
          <a:prstGeom prst="rect">
            <a:avLst/>
          </a:prstGeom>
          <a:noFill/>
          <a:ln/>
        </p:spPr>
        <p:txBody>
          <a:bodyPr wrap="square" lIns="0" tIns="0" rIns="0" bIns="0" rtlCol="0" anchor="ctr"/>
          <a:lstStyle/>
          <a:p>
            <a:pPr indent="0" marL="0">
              <a:buNone/>
            </a:pPr>
            <a:r>
              <a:rPr lang="en-US" sz="1400" dirty="0">
                <a:solidFill>
                  <a:srgbClr val="33395C"/>
                </a:solidFill>
                <a:latin typeface="Calibri" pitchFamily="34" charset="0"/>
                <a:ea typeface="Calibri" pitchFamily="34" charset="-122"/>
                <a:cs typeface="Calibri" pitchFamily="34" charset="-120"/>
              </a:rPr>
              <a:t>Task A: PR scope match assessment (Slide 2)</a:t>
            </a:r>
            <a:endParaRPr lang="en-US" sz="1400" dirty="0"/>
          </a:p>
        </p:txBody>
      </p:sp>
      <p:sp>
        <p:nvSpPr>
          <p:cNvPr id="7" name="Shape 5"/>
          <p:cNvSpPr/>
          <p:nvPr/>
        </p:nvSpPr>
        <p:spPr>
          <a:xfrm>
            <a:off x="457200" y="2697480"/>
            <a:ext cx="384048" cy="384048"/>
          </a:xfrm>
          <a:prstGeom prst="ellipse">
            <a:avLst/>
          </a:prstGeom>
          <a:solidFill>
            <a:srgbClr val="FFFFFF"/>
          </a:solidFill>
          <a:ln w="25400">
            <a:solidFill>
              <a:srgbClr val="1E2761"/>
            </a:solidFill>
            <a:prstDash val="solid"/>
          </a:ln>
        </p:spPr>
      </p:sp>
      <p:sp>
        <p:nvSpPr>
          <p:cNvPr id="8" name="Shape 6"/>
          <p:cNvSpPr/>
          <p:nvPr/>
        </p:nvSpPr>
        <p:spPr>
          <a:xfrm>
            <a:off x="1097280" y="2587752"/>
            <a:ext cx="10637215" cy="621792"/>
          </a:xfrm>
          <a:prstGeom prst="roundRect">
            <a:avLst>
              <a:gd name="adj" fmla="val 11765"/>
            </a:avLst>
          </a:prstGeom>
          <a:solidFill>
            <a:srgbClr val="F4F6FC"/>
          </a:solidFill>
          <a:ln/>
          <a:effectLst>
            <a:outerShdw sx="100000" sy="100000" kx="0" ky="0" algn="bl" rotWithShape="0" blurRad="101600" dist="38100" dir="5400000">
              <a:srgbClr val="1E2761">
                <a:alpha val="12000"/>
              </a:srgbClr>
            </a:outerShdw>
          </a:effectLst>
        </p:spPr>
      </p:sp>
      <p:sp>
        <p:nvSpPr>
          <p:cNvPr id="9" name="Text 7"/>
          <p:cNvSpPr/>
          <p:nvPr/>
        </p:nvSpPr>
        <p:spPr>
          <a:xfrm>
            <a:off x="1325880" y="2587752"/>
            <a:ext cx="10180015" cy="621792"/>
          </a:xfrm>
          <a:prstGeom prst="rect">
            <a:avLst/>
          </a:prstGeom>
          <a:noFill/>
          <a:ln/>
        </p:spPr>
        <p:txBody>
          <a:bodyPr wrap="square" lIns="0" tIns="0" rIns="0" bIns="0" rtlCol="0" anchor="ctr"/>
          <a:lstStyle/>
          <a:p>
            <a:pPr indent="0" marL="0">
              <a:buNone/>
            </a:pPr>
            <a:r>
              <a:rPr lang="en-US" sz="1400" dirty="0">
                <a:solidFill>
                  <a:srgbClr val="33395C"/>
                </a:solidFill>
                <a:latin typeface="Calibri" pitchFamily="34" charset="0"/>
                <a:ea typeface="Calibri" pitchFamily="34" charset="-122"/>
                <a:cs typeface="Calibri" pitchFamily="34" charset="-120"/>
              </a:rPr>
              <a:t>Task B: AEB requirement vs. test-result coverage-gap list (Slide 3)</a:t>
            </a:r>
            <a:endParaRPr lang="en-US" sz="1400" dirty="0"/>
          </a:p>
        </p:txBody>
      </p:sp>
      <p:sp>
        <p:nvSpPr>
          <p:cNvPr id="10" name="Shape 8"/>
          <p:cNvSpPr/>
          <p:nvPr/>
        </p:nvSpPr>
        <p:spPr>
          <a:xfrm>
            <a:off x="457200" y="3566160"/>
            <a:ext cx="384048" cy="384048"/>
          </a:xfrm>
          <a:prstGeom prst="ellipse">
            <a:avLst/>
          </a:prstGeom>
          <a:solidFill>
            <a:srgbClr val="FFFFFF"/>
          </a:solidFill>
          <a:ln w="25400">
            <a:solidFill>
              <a:srgbClr val="1E2761"/>
            </a:solidFill>
            <a:prstDash val="solid"/>
          </a:ln>
        </p:spPr>
      </p:sp>
      <p:sp>
        <p:nvSpPr>
          <p:cNvPr id="11" name="Shape 9"/>
          <p:cNvSpPr/>
          <p:nvPr/>
        </p:nvSpPr>
        <p:spPr>
          <a:xfrm>
            <a:off x="1097280" y="3456432"/>
            <a:ext cx="10637215" cy="621792"/>
          </a:xfrm>
          <a:prstGeom prst="roundRect">
            <a:avLst>
              <a:gd name="adj" fmla="val 11765"/>
            </a:avLst>
          </a:prstGeom>
          <a:solidFill>
            <a:srgbClr val="F4F6FC"/>
          </a:solidFill>
          <a:ln/>
          <a:effectLst>
            <a:outerShdw sx="100000" sy="100000" kx="0" ky="0" algn="bl" rotWithShape="0" blurRad="101600" dist="38100" dir="5400000">
              <a:srgbClr val="1E2761">
                <a:alpha val="12000"/>
              </a:srgbClr>
            </a:outerShdw>
          </a:effectLst>
        </p:spPr>
      </p:sp>
      <p:sp>
        <p:nvSpPr>
          <p:cNvPr id="12" name="Text 10"/>
          <p:cNvSpPr/>
          <p:nvPr/>
        </p:nvSpPr>
        <p:spPr>
          <a:xfrm>
            <a:off x="1325880" y="3456432"/>
            <a:ext cx="10180015" cy="621792"/>
          </a:xfrm>
          <a:prstGeom prst="rect">
            <a:avLst/>
          </a:prstGeom>
          <a:noFill/>
          <a:ln/>
        </p:spPr>
        <p:txBody>
          <a:bodyPr wrap="square" lIns="0" tIns="0" rIns="0" bIns="0" rtlCol="0" anchor="ctr"/>
          <a:lstStyle/>
          <a:p>
            <a:pPr indent="0" marL="0">
              <a:buNone/>
            </a:pPr>
            <a:r>
              <a:rPr lang="en-US" sz="1400" dirty="0">
                <a:solidFill>
                  <a:srgbClr val="33395C"/>
                </a:solidFill>
                <a:latin typeface="Calibri" pitchFamily="34" charset="0"/>
                <a:ea typeface="Calibri" pitchFamily="34" charset="-122"/>
                <a:cs typeface="Calibri" pitchFamily="34" charset="-120"/>
              </a:rPr>
              <a:t>Task C: Review your own result against the answer key (Slide 7)</a:t>
            </a:r>
            <a:endParaRPr lang="en-US" sz="1400" dirty="0"/>
          </a:p>
        </p:txBody>
      </p:sp>
      <p:sp>
        <p:nvSpPr>
          <p:cNvPr id="13" name="Shape 11"/>
          <p:cNvSpPr/>
          <p:nvPr/>
        </p:nvSpPr>
        <p:spPr>
          <a:xfrm>
            <a:off x="457200" y="4617720"/>
            <a:ext cx="11277295" cy="1234440"/>
          </a:xfrm>
          <a:prstGeom prst="roundRect">
            <a:avLst>
              <a:gd name="adj" fmla="val 5926"/>
            </a:avLst>
          </a:prstGeom>
          <a:solidFill>
            <a:srgbClr val="E6F2EC"/>
          </a:solidFill>
          <a:ln/>
        </p:spPr>
      </p:sp>
      <p:sp>
        <p:nvSpPr>
          <p:cNvPr id="14" name="Shape 12"/>
          <p:cNvSpPr/>
          <p:nvPr/>
        </p:nvSpPr>
        <p:spPr>
          <a:xfrm>
            <a:off x="731520" y="5006340"/>
            <a:ext cx="457200" cy="457200"/>
          </a:xfrm>
          <a:prstGeom prst="ellipse">
            <a:avLst/>
          </a:prstGeom>
          <a:solidFill>
            <a:srgbClr val="FFFFFF"/>
          </a:solidFill>
          <a:ln/>
        </p:spPr>
      </p:sp>
      <p:sp>
        <p:nvSpPr>
          <p:cNvPr id="15" name="Text 13"/>
          <p:cNvSpPr/>
          <p:nvPr/>
        </p:nvSpPr>
        <p:spPr>
          <a:xfrm>
            <a:off x="731520" y="5006340"/>
            <a:ext cx="457200" cy="457200"/>
          </a:xfrm>
          <a:prstGeom prst="rect">
            <a:avLst/>
          </a:prstGeom>
          <a:noFill/>
          <a:ln/>
        </p:spPr>
        <p:txBody>
          <a:bodyPr wrap="square" lIns="0" tIns="0" rIns="0" bIns="0" rtlCol="0" anchor="ctr"/>
          <a:lstStyle/>
          <a:p>
            <a:pPr algn="ctr" indent="0" marL="0">
              <a:buNone/>
            </a:pPr>
            <a:r>
              <a:rPr lang="en-US" sz="1400" b="1" dirty="0">
                <a:solidFill>
                  <a:srgbClr val="2C6B4F"/>
                </a:solidFill>
                <a:latin typeface="Calibri" pitchFamily="34" charset="0"/>
                <a:ea typeface="Calibri" pitchFamily="34" charset="-122"/>
                <a:cs typeface="Calibri" pitchFamily="34" charset="-120"/>
              </a:rPr>
              <a:t>OK</a:t>
            </a:r>
            <a:endParaRPr lang="en-US" sz="1400" dirty="0"/>
          </a:p>
        </p:txBody>
      </p:sp>
      <p:sp>
        <p:nvSpPr>
          <p:cNvPr id="16" name="Text 14"/>
          <p:cNvSpPr/>
          <p:nvPr/>
        </p:nvSpPr>
        <p:spPr>
          <a:xfrm>
            <a:off x="1371600" y="4764024"/>
            <a:ext cx="10088575" cy="365760"/>
          </a:xfrm>
          <a:prstGeom prst="rect">
            <a:avLst/>
          </a:prstGeom>
          <a:noFill/>
          <a:ln/>
        </p:spPr>
        <p:txBody>
          <a:bodyPr wrap="square" lIns="0" tIns="0" rIns="0" bIns="0" rtlCol="0" anchor="ctr"/>
          <a:lstStyle/>
          <a:p>
            <a:pPr indent="0" marL="0">
              <a:buNone/>
            </a:pPr>
            <a:r>
              <a:rPr lang="en-US" sz="1500" b="1" dirty="0">
                <a:solidFill>
                  <a:srgbClr val="2C6B4F"/>
                </a:solidFill>
                <a:latin typeface="Cambria" pitchFamily="34" charset="0"/>
                <a:ea typeface="Cambria" pitchFamily="34" charset="-122"/>
                <a:cs typeface="Cambria" pitchFamily="34" charset="-120"/>
              </a:rPr>
              <a:t>Lab data ready</a:t>
            </a:r>
            <a:endParaRPr lang="en-US" sz="1500" dirty="0"/>
          </a:p>
        </p:txBody>
      </p:sp>
      <p:sp>
        <p:nvSpPr>
          <p:cNvPr id="17" name="Text 15"/>
          <p:cNvSpPr/>
          <p:nvPr/>
        </p:nvSpPr>
        <p:spPr>
          <a:xfrm>
            <a:off x="1371600" y="5129784"/>
            <a:ext cx="10088575" cy="594360"/>
          </a:xfrm>
          <a:prstGeom prst="rect">
            <a:avLst/>
          </a:prstGeom>
          <a:noFill/>
          <a:ln/>
        </p:spPr>
        <p:txBody>
          <a:bodyPr wrap="square" lIns="0" tIns="0" rIns="0" bIns="0" rtlCol="0" anchor="ctr"/>
          <a:lstStyle/>
          <a:p>
            <a:pPr indent="0" marL="0">
              <a:buNone/>
            </a:pPr>
            <a:r>
              <a:rPr lang="en-US" sz="1200" dirty="0">
                <a:solidFill>
                  <a:srgbClr val="2C6B4F"/>
                </a:solidFill>
                <a:latin typeface="Calibri" pitchFamily="34" charset="0"/>
                <a:ea typeface="Calibri" pitchFamily="34" charset="-122"/>
                <a:cs typeface="Calibri" pitchFamily="34" charset="-120"/>
              </a:rPr>
              <a:t>ticket-AEB-99.md · pr-diff.md · aeb-requirements.csv · test-execution-report.xml/.html · execution-log.txt · answer-keys/pr-scope-answer-key.md · answer-keys/coverage-gap-answer-key.md — all in lab/module-3-scope-coverage/. Runs fully offline, ~60 min including the governance discussion.</a:t>
            </a:r>
            <a:endParaRPr lang="en-US" sz="1200" dirty="0"/>
          </a:p>
        </p:txBody>
      </p:sp>
      <p:sp>
        <p:nvSpPr>
          <p:cNvPr id="18" name="Text 1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7B84A6"/>
                </a:solidFill>
                <a:latin typeface="Calibri" pitchFamily="34" charset="0"/>
                <a:ea typeface="Calibri" pitchFamily="34" charset="-122"/>
                <a:cs typeface="Calibri" pitchFamily="34" charset="-120"/>
              </a:rPr>
              <a:t>GENAI FOR TEST MANAGEMENT · TRACK 2</a:t>
            </a:r>
            <a:endParaRPr lang="en-US" sz="900" dirty="0"/>
          </a:p>
        </p:txBody>
      </p:sp>
      <p:sp>
        <p:nvSpPr>
          <p:cNvPr id="19" name="Text 17"/>
          <p:cNvSpPr/>
          <p:nvPr/>
        </p:nvSpPr>
        <p:spPr>
          <a:xfrm>
            <a:off x="10362895" y="6510528"/>
            <a:ext cx="1371600" cy="274320"/>
          </a:xfrm>
          <a:prstGeom prst="rect">
            <a:avLst/>
          </a:prstGeom>
          <a:noFill/>
          <a:ln/>
        </p:spPr>
        <p:txBody>
          <a:bodyPr wrap="square" lIns="0" tIns="0" rIns="0" bIns="0" rtlCol="0" anchor="ctr"/>
          <a:lstStyle/>
          <a:p>
            <a:pPr algn="r" indent="0" marL="0">
              <a:buNone/>
            </a:pPr>
            <a:r>
              <a:rPr lang="en-US" sz="900" dirty="0">
                <a:solidFill>
                  <a:srgbClr val="7B84A6"/>
                </a:solidFill>
                <a:latin typeface="Calibri" pitchFamily="34" charset="0"/>
                <a:ea typeface="Calibri" pitchFamily="34" charset="-122"/>
                <a:cs typeface="Calibri" pitchFamily="34" charset="-120"/>
              </a:rPr>
              <a:t>09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GenAI for Test Management</dc:creator>
  <cp:lastModifiedBy>GenAI for Test Management</cp:lastModifiedBy>
  <cp:revision>1</cp:revision>
  <dcterms:created xsi:type="dcterms:W3CDTF">2026-08-19T13:19:18Z</dcterms:created>
  <dcterms:modified xsi:type="dcterms:W3CDTF">2026-08-19T13:19:18Z</dcterms:modified>
</cp:coreProperties>
</file>