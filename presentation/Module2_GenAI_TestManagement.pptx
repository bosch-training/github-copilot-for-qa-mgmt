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divider. Prerequisite: 00-setup/setup-guide.md completed — Atlassian MCP connector working, local n8n container running via Docker, SMTP credentials for the training mailbox in hand. This is the first module where nothing is a local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What is MCP? — modelcontextprotocol.io.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MCP Architecture — modelcontextprotocol.io. Tools/Resources/Prompts are the real, official MCP primitive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The connection used for the entire Module 2 lab, pointed at project QAM in the shared Jira Cloud sandbox (seeded before the session — see import-instructions.md).
Server endpoint: https://mcp.atlassian.com/v1/mcp (from Atlassian's official repo). Requires Node.js v18+ for the local MCP proxy, then a one-time OAuth sign-in.
A1 connection check (lab-guide.md): "Using the Jira MCP connector, list the open issues in the QAM project." Should return real seeded issues, not a generic answer — if not, stop and flag the facilitator rather than burn the module debugging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Exercise A2, verbatim from lab-guide.md — real prompts, real project key (QAM, the shared sandbox).
Habit to reinforce (prompt-template-library.md, Template 5): always ask Copilot to explain the query before running it — this is what makes "Copilot-assisted" different from "Copilot-trusted." A2's second ask (blocked-longest) is a good moment to point out Copilot is assisting, not infallible.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Exercise A3, verbatim: "Pull the current sprint's issues, the backlog, and open defects via MCP. Produce a short report with: (1) sprint velocity — points done vs. committed, (2) defect density — open defects per 10 story points delivered this sprint, (3) backlog health — % of backlog items in 'Ready' status, (4) one flagged risk if defect density looks high relative to velocity."
These are the real numbers from this course's seeded sandbox data (Sprint 15): velocity 10/42 committed points (24%); defect density = 6 open defects (Sprint 15: QAM-305/306/311/312/313/314) ÷ 10 points delivered × 10 = 6.0; backlog health = 4 of 8 items (QAM-320/321/324/325) Ready. QAM-305 links to requirement AEB-108 (graceful degradation) and QAM-306 links to AEB-114 (TTC recalculation) — both show zero or failing test coverage in Module 3's data, which is exactly the kind of cross-check this report should trigger. Keep this output open — it carries into Part B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 bridge slide — no hands-on task of its own; sets up Slide 8's n8n workflow build. Each participant runs n8n locally via their own Docker container — only the Jira sandbox behind it is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[Hands-on link] Teaches Part B — wiring the A3 analysis into the provided n8n starter workflow, node by node (lab-guide.md B1–B4).
Facilitator-verified status (facilitator-notes.md): the workflow JSON and Docker setup have both been checked against a real, running n8n 2.35.3 container — `docker compose up -d` boots cleanly, `n8n import:workflow` succeeds, and a REST API fetch after import confirms every node/typeVersion/connection persisted exactly as authored. This caught and fixed two real bugs in the original hand-authored JSON: (1) a missing workflow-level `id` (CLI import fails without one); (2) the AI step used a deprecated `n8n-nodes-base.openAi` node at a nonexistent typeVersion — replaced with the current pattern, `@n8n/n8n-nodes-langchain.chainLlm` ("Basic LLM Chain") driven by a separate `lmChatOpenAi` ("OpenAI Chat Model") sub-node via the `ai_languageModel` connection type, which is what n8n's own UI offers today.
Still NOT verified — needs real credentials no one has plugged in yet: an actual run against live Jira data, a real OpenAI call, and a real SMTP send. Before wiring Send Email, click Execute step on AI Summary alone and confirm the output field is really named `text` (documented as a manual check in lab-guide.md step B3) rather than assuming.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data confirmed ready (lab/README.md status table). Facilitator pre-session checklist: pull the n8n image once yourself ahead of time (it's a large image), import the starter workflow into your own container and run it end-to-end at least once, seed the QAM sandbox and sanity-check `project = QAM AND sprint = "Sprint 15"` returns ~10 results.
Common failure modes to watch for live (facilitator-notes.md): Docker pull stalling on the day (must happen in pre-work); MCP connector authenticated but returning stale/no data (the A1 check catches this); n8n credential setup running long (have a backup shared credential ready); runaway 15-minute schedule triggers left active after B4 — visually confirm the room has deactivated their workflow before lunch.
Module 2 sources: What is MCP? · MCP Architecture · Atlassian Remote MCP Server · n8n Jira Software node · n8n Schedule Trigger · n8n Send Email node · n8n Basic LLM Chain / OpenAI Chat Model nodes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3375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Jira Data &amp; Automated Reporting — MCP +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03" y="4114800"/>
            <a:ext cx="9265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from Module 1's Sprint 14 thread — the same AEB false-positive defect (QAM-207) is now QAM-315, still open in Sprint 15's live sandbox data.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1–9  ·  Hands-on lab included  ·  Part A ~40 min · Part B ~50 min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SLIDE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Static Files to Live Data: Why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used files you handed to Copilot. Real Jira data changes hourly.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389120" cy="1645920"/>
          </a:xfrm>
          <a:prstGeom prst="roundRect">
            <a:avLst>
              <a:gd name="adj" fmla="val 4444"/>
            </a:avLst>
          </a:prstGeom>
          <a:solidFill>
            <a:srgbClr val="EFEFE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8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Files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Sprint/backlog exports you attach by hand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0" y="2560320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46320" y="3063240"/>
            <a:ext cx="2499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45375" y="2011680"/>
            <a:ext cx="4389120" cy="1645920"/>
          </a:xfrm>
          <a:prstGeom prst="roundRect">
            <a:avLst>
              <a:gd name="adj" fmla="val 4444"/>
            </a:avLst>
          </a:prstGeom>
          <a:solidFill>
            <a:srgbClr val="E6F2E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45375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Systems (Jira)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19695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reaches current sprint/backlog data directly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148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"MCP is like a USB-C port for AI applications." — modelcontextprotocol.io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SLIDE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MCP Works (Just Enough Architecture)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588" y="16459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8028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(Host)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1188" y="1965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21228" y="16459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12668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35828" y="1965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55868" y="16459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7308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MCP Server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0468" y="19659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90508" y="16459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81948" y="16459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Cloud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576218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566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97764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it can run — e.g., search issues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07738" y="3383280"/>
            <a:ext cx="3576218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36338" y="3566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36338" y="397764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it can hand back — e.g., issue records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8277" y="3383280"/>
            <a:ext cx="3576218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86877" y="3566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86877" y="397764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templates — e.g., a sprint-summary prompt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SLIDE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Copilot to Jira: The Atlassian Remote MCP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connected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0208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Confluence, JSM, Bitbucket, Compass — official Atlassian-maintained server.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328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5054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8620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2.1 (sign in, respects existing permissions) or API tokens (admin-provisioned).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741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34670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visible is scoped to your own Jira permissions — no back-door access.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52544"/>
            <a:ext cx="11277295" cy="1554480"/>
          </a:xfrm>
          <a:prstGeom prst="roundRect">
            <a:avLst>
              <a:gd name="adj" fmla="val 4706"/>
            </a:avLst>
          </a:prstGeom>
          <a:solidFill>
            <a:srgbClr val="FFF3D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58114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535424"/>
            <a:ext cx="10180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regulated / automotive environments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882896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is often the agile work-tracking layer sitting on top of a requirements system of record (e.g., DOORS, Polarion) that holds ASIL-tagged requirements. The same MCP connection pattern applies to whichever system is your actual source of truth — confirm with your tooling/compliance team before connecting a lab exercise's output to anything beyond Jira.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SLIDE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Jira Through Copilot: Copilot-Assisted JQL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ask in plain English; Copilot drafts the JQL; MCP runs it live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JQL query for issues in QAM that are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Bug, status is not Done, and priority is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or High. Explain the query, then run 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2423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DRAFTS JQL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92240" y="2468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= QAM AND type = Bug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status != Done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priority in (Critical, High)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JQL for everything in the current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with status = Blocked.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42519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DRAFTS JQL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2976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= QAM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sprint in openSprints()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status = Blocked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SLIDE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Synthesizing a Coverage-Velocity / Defect-Density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query → ask Copilot to combine sprint, backlog, and defect data into a narrative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03911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+ defect density, computed together from the same pulled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478024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advisory — the Test Manager confirms before quoting upward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3511296" cy="1600200"/>
          </a:xfrm>
          <a:prstGeom prst="roundRect">
            <a:avLst>
              <a:gd name="adj" fmla="val 457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2461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Velocity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85800" y="42336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42 pts (Sprint 15)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4256" y="3063240"/>
            <a:ext cx="3511296" cy="1600200"/>
          </a:xfrm>
          <a:prstGeom prst="roundRect">
            <a:avLst>
              <a:gd name="adj" fmla="val 457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62856" y="32461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Density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62856" y="352044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62856" y="42336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defects / 10 pts delivered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11312" y="3063240"/>
            <a:ext cx="3511296" cy="1600200"/>
          </a:xfrm>
          <a:prstGeom prst="roundRect">
            <a:avLst>
              <a:gd name="adj" fmla="val 457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39912" y="32461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Health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39912" y="352044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439912" y="42336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8 backlog items Ready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892040"/>
            <a:ext cx="11277295" cy="640080"/>
          </a:xfrm>
          <a:prstGeom prst="roundRect">
            <a:avLst>
              <a:gd name="adj" fmla="val 11429"/>
            </a:avLst>
          </a:prstGeom>
          <a:solidFill>
            <a:srgbClr val="FBEAE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9204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risk: defect density is high relative to velocity — 2 of 6 Sprint 15 defects are Critical and Blocked (QAM-305, QAM-306).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56692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the seeded Jira sandbox data (sprint-issues.csv, defects.csv, backlog.csv) — sample training data, not a live production metric.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SLIDE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One-Off Chat to a Standing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chat answer today doesn't help next Monday — this is the gap n8n closes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n8n: scheduled trigger → pull data → AI step → deliver output, unattended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extend a provided starter workflow, don't build from scratch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3931920"/>
            <a:ext cx="1005840" cy="1005840"/>
          </a:xfrm>
          <a:prstGeom prst="ellipse">
            <a:avLst/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3931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4160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92240" y="393192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3931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77640" y="5029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89320" y="5029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&amp; scheduled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SLIDE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n8n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 → Jira → Format (Code) → AI Summary → Send Email — verified against a live n8n 2.35.3 container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448" y="18745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2600" y="187452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21128" y="21671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49728" y="18745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2880" y="187452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(Get Issues)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61408" y="21671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0008" y="18745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63160" y="187452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Issues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01688" y="21671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30288" y="18745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3440" y="187452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(Basic LLM Chain)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41968" y="21671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70568" y="18745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43720" y="187452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336128" y="2926080"/>
            <a:ext cx="0" cy="411480"/>
          </a:xfrm>
          <a:prstGeom prst="line">
            <a:avLst/>
          </a:prstGeom>
          <a:noFill/>
          <a:ln w="15875">
            <a:solidFill>
              <a:srgbClr val="7B84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193128" y="333756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7193128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Chat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58688" y="3959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 — separate connection type, not the data flow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389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15 min for the lab (production cadence would be daily/weekly)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365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736592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node pulls Sprint 15 issues via JQL — same pattern as Slide 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0840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084064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 compacts the raw issue array so the AI prompt stays small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4315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5431536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produces the Slide 6 narrative; Send Email delivers it over SMTP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HANDS-ON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 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719072"/>
            <a:ext cx="10637215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1719072"/>
            <a:ext cx="10180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Query live data via MCP + Copilot-assisted JQL; synthesize the summary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587752"/>
            <a:ext cx="10637215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25880" y="2587752"/>
            <a:ext cx="10180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Wire the same logic into the provided n8n starter workflow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456432"/>
            <a:ext cx="10637215" cy="621792"/>
          </a:xfrm>
          <a:prstGeom prst="roundRect">
            <a:avLst>
              <a:gd name="adj" fmla="val 11765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25880" y="3456432"/>
            <a:ext cx="101800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 working scheduled report landing in your inbox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E6F2E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50063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006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764024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data ready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5129784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sprint-issues.csv · backlog.csv · defects.csv seeded into the shared QAM Jira sandbox pre-session · n8n-workflow-starter.json — Docker + import verified against a live n8n container. Participants supply their own Jira/AI-provider/SMTP credentials per 00-setup/setup-guide.md.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TEST MANAGEMENT · TRACK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GenAI for Test Management</dc:creator>
  <cp:lastModifiedBy>GenAI for Test Management</cp:lastModifiedBy>
  <cp:revision>1</cp:revision>
  <dcterms:created xsi:type="dcterms:W3CDTF">2026-08-19T13:19:18Z</dcterms:created>
  <dcterms:modified xsi:type="dcterms:W3CDTF">2026-08-19T13:19:18Z</dcterms:modified>
</cp:coreProperties>
</file>