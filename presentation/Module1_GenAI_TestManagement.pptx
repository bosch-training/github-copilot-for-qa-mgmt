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Module divider. This module runs entirely offline against local sample files — no MCP or live Jira needed until Module 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Worked example (Microsoft's own): "drafting a training module or email response using Copilot Chat after being given a few key points." This is literally what Module 1's lab has you do.
Source: What is Generative AI? — Microsoft Learn.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Worked example — IBM: LLMs are "giant statistical prediction machines that repeatedly predict the next word in a sequence." Connects directly to the next slide's hallucination point.
Source: What Are Large Language Models (LLMs)? — IBM.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[Hands-on link] Frames the whole Module 1 lab.
Real worked example (now that lab data exists): ask Copilot Chat "How many story points did we complete last sprint?" with NO file attached — it has nothing to ground an answer and may invent a plausible-sounding number. The real answer, from team-meeting-notes.md's sprint review section, is "10 of 46 committed points completed so far (18 in progress, 5 blocked, 13 not started)." Running the same question with #team-meeting-notes.md attached is the contrast that makes this concrete for participants.
Citation: docs.github.com/en/copilot/responsible-use/chat, "Hallucination" glossary entry under Key Terms.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[Hands-on link] This is the tool participants open first in the lab.
Definition re-validated word-for-word: "GitHub Copilot Chat is the AI-powered chat interface for GitHub Copilot." Exact match confirmed.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[Hands-on link] Techniques 1–4 = Exercise 1's three-attempt sequence; technique 5 = Exercise 4's weak-prompt refinement.
Real worked example — from sample-data/weak-prompt-example.md — Weak: "Give me a status update." Strong (Exercise 1, Attempt 3, verbatim): "Using #sprint-board-export.csv, write a 5-bullet sprint status summary for a program stakeholder audience. Bullet 1: overall % complete by story points. Bullet 2: what's done. Bullet 3: what's in progress. Bullet 4: any item with status 'Blocked' — call it out explicitly. Bullet 5: one-sentence risk callout if velocity looks off track. Do not invent information not in the file."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[Hands-on link] Sets up Exercise 1 — #file-referencing sprint-board-export.csv and backlog.csv.
Real worked example: with #sprint-board-export.csv in context, "Using #sprint-board-export.csv, identify all items still In Progress." The real file has 3 In Progress rows this sprint (QAM-203, QAM-204, QAM-211) — a concrete, checkable answer, unlike the ungrounded anti-pattern above.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[Hands-on link] Covers Exercise 2 (status report) and Exercise 3, part 1 (risk review).
Real worked example — status report (Exercise 2): "Using sprint-board-export.csv and backlog.csv, draft a stakeholder-ready status report: sprint goal progress, backlog health, one cited risk, a 'what's next' line — then re-run folding in team-meeting-notes.md for risk signals a file-only pass misses (e.g. the flaky HIL bench blocking QAM-205, or K. Menon's Thu–Fri leave)."
Real worked example — risk review (Exercise 3): "Using team-meeting-notes.md, surface every risk mentioned, grouped High/Medium/Low, with the source line quoted for each." The real notes contain a genuine Critical item — the AEB false-positive brake defect found in triage (QAM-207) — a strong in-class example of why citation matters.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[Hands-on link] Covers Exercise 3, part 2 (retrospective summary).
Real worked example: "Using team-meeting-notes.md, draft a retrospective summary in three sections: What went well, What didn't, Action items (max 5, each with an owner)." The real notes already contain a full retro section — Went well: AEB TTC tuning + ACC handoff shipped clean; Didn't go well: two capacity-eating blockers traced to test infra, ASIL sign-off missing from Definition of Done; Action items: automate CAN bus log capture (QAM-211, owner already assigned), add ASIL sign-off to DoD (owner R. Nair), escalate track-test capacity (owner A. Rao) — every action item in the source already has a named owner, so this is a genuine one-shot test of whether Copilot preserves that detail rather than dropping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[Hands-on link] Exercise 4 — refine weak-prompt-example.md's "Give me a status update." into a reusable template, then compare against the reference version.
Real reference template — prompt-template-library.md, Template 1 (Status report generator), verbatim:
"Using {data_source}, write a status report for {audience}. Include: Overall progress (% complete by story points or equivalent); What's done this period; What's in progress; Any blocked/at-risk items, called out explicitly; One-sentence risk callout if progress looks off track. Tone: {tone}. Constraint: only use information present in {data_source}. If something isn't in the data, say 'not available' rather than inferring it."
This is the artifact participants take back to their desk — handed out at end of day as prompt-template-library.md (8 templates total, covering every pattern taught across all 3 modules).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Lab data confirmed ready (per lab/README.md status table). Files use realistic ADAS/automotive sample tickets (QAM-2xx series, Sprint 14) so the exercises land for this audience rather than reading as generic PM filler.
Facilitator tip (facilitator-notes.md): do a live "weak prompt → good prompt" demo before turning participants loose on Exercise 4 — seeing the iteration happen live lands better than reading about it. Emphasize the habit of adding context/clarity/constraint, not a perfect prompt on attempt one.
Module 1 sources: GitHub Copilot Chat · Prompt engineering for Copilot Chat · Responsible use — Chat · What is Generative AI? (Microsoft Learn) · What Are Large Language Models? (IBM)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965960"/>
            <a:ext cx="12191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3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GENAI FOR TEST MANAGEMENT · TRACK 2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0" y="2377440"/>
            <a:ext cx="1219169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Module 1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0" y="3337560"/>
            <a:ext cx="121916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GenAI Fundamentals &amp; AI-Assisted PM Workflows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463003" y="4114800"/>
            <a:ext cx="92656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FB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general PM workflows — Module 3 maps this to ISO 26262 / ASPICE practice for regulated environments.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0" y="6126480"/>
            <a:ext cx="12191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C9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1–11  ·  Hands-on lab included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· SLIDE 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Generative AI?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41732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B8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Definition: AI that produces brand-new content — text, images, video, audio — from a simple description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965960"/>
            <a:ext cx="5349240" cy="2148840"/>
          </a:xfrm>
          <a:prstGeom prst="roundRect">
            <a:avLst>
              <a:gd name="adj" fmla="val 3404"/>
            </a:avLst>
          </a:prstGeom>
          <a:solidFill>
            <a:srgbClr val="EFEFEF"/>
          </a:solidFill>
          <a:ln/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224028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2240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371600" y="2240280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Classification Models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77240" y="2880360"/>
            <a:ext cx="4709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 and categorize existing information — e.g., filtering spam vs. inbox.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080760" y="1965960"/>
            <a:ext cx="5349240" cy="2148840"/>
          </a:xfrm>
          <a:prstGeom prst="roundRect">
            <a:avLst>
              <a:gd name="adj" fmla="val 3404"/>
            </a:avLst>
          </a:prstGeom>
          <a:solidFill>
            <a:srgbClr val="E6F2EC"/>
          </a:solidFill>
          <a:ln/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355080" y="2240280"/>
            <a:ext cx="457200" cy="457200"/>
          </a:xfrm>
          <a:prstGeom prst="ellipse">
            <a:avLst/>
          </a:prstGeom>
          <a:solidFill>
            <a:srgbClr val="2C6B4F"/>
          </a:solidFill>
          <a:ln/>
        </p:spPr>
      </p:sp>
      <p:sp>
        <p:nvSpPr>
          <p:cNvPr id="12" name="Text 10"/>
          <p:cNvSpPr/>
          <p:nvPr/>
        </p:nvSpPr>
        <p:spPr>
          <a:xfrm>
            <a:off x="6355080" y="2240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995160" y="2240280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6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Generative Models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400800" y="2880360"/>
            <a:ext cx="4709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new content from learned patterns — e.g., drafting a report from a few key points.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4389120"/>
            <a:ext cx="11277295" cy="731520"/>
          </a:xfrm>
          <a:prstGeom prst="roundRect">
            <a:avLst>
              <a:gd name="adj" fmla="val 10000"/>
            </a:avLst>
          </a:prstGeom>
          <a:solidFill>
            <a:srgbClr val="CADCFC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4389120"/>
            <a:ext cx="1054577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branch of AI that Copilot Chat belongs to.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B8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GENAI FOR TEST MANAGEMENT · TRACK 2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0362895" y="651052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B8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11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· SLIDE 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Do LLMs Work?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417320"/>
            <a:ext cx="112772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B8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 enough to explain why hallucinations happen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92024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920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143000" y="1892808"/>
            <a:ext cx="6309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Trained on huge amounts of text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143000" y="2249424"/>
            <a:ext cx="630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3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Books, articles, code — broken into small units called tokens.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57200" y="288036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2880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143000" y="2852928"/>
            <a:ext cx="6309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Predicts the next token by probability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143000" y="3209544"/>
            <a:ext cx="630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3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token at a time — not by looking up facts.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57200" y="384048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3840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143000" y="3813048"/>
            <a:ext cx="6309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Uses a transformer neural network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143000" y="4169664"/>
            <a:ext cx="630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3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at spotting patterns across long text (mention only, no math needed today).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457200" y="4800600"/>
            <a:ext cx="457200" cy="457200"/>
          </a:xfrm>
          <a:prstGeom prst="ellipse">
            <a:avLst/>
          </a:prstGeom>
          <a:solidFill>
            <a:srgbClr val="9B2C22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4800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143000" y="4773168"/>
            <a:ext cx="6309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B2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This is why hallucinations happen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43000" y="5129784"/>
            <a:ext cx="630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3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makes "its best guess at every step," not a fact lookup.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7589520" y="21031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7B8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PREDICTING THE NEXT TOKEN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7589520" y="2560320"/>
            <a:ext cx="621792" cy="502920"/>
          </a:xfrm>
          <a:prstGeom prst="roundRect">
            <a:avLst>
              <a:gd name="adj" fmla="val 9091"/>
            </a:avLst>
          </a:prstGeom>
          <a:solidFill>
            <a:srgbClr val="F4F6FC"/>
          </a:solidFill>
          <a:ln w="12700">
            <a:solidFill>
              <a:srgbClr val="C9D2E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589520" y="2560320"/>
            <a:ext cx="6217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B8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•••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8321040" y="2560320"/>
            <a:ext cx="621792" cy="502920"/>
          </a:xfrm>
          <a:prstGeom prst="roundRect">
            <a:avLst>
              <a:gd name="adj" fmla="val 9091"/>
            </a:avLst>
          </a:prstGeom>
          <a:solidFill>
            <a:srgbClr val="F4F6FC"/>
          </a:solidFill>
          <a:ln w="12700">
            <a:solidFill>
              <a:srgbClr val="C9D2E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321040" y="2560320"/>
            <a:ext cx="6217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B8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•••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9052560" y="2560320"/>
            <a:ext cx="621792" cy="502920"/>
          </a:xfrm>
          <a:prstGeom prst="roundRect">
            <a:avLst>
              <a:gd name="adj" fmla="val 9091"/>
            </a:avLst>
          </a:prstGeom>
          <a:solidFill>
            <a:srgbClr val="F4F6FC"/>
          </a:solidFill>
          <a:ln w="12700">
            <a:solidFill>
              <a:srgbClr val="C9D2E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052560" y="2560320"/>
            <a:ext cx="6217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B8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•••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9784080" y="2560320"/>
            <a:ext cx="621792" cy="502920"/>
          </a:xfrm>
          <a:prstGeom prst="roundRect">
            <a:avLst>
              <a:gd name="adj" fmla="val 9091"/>
            </a:avLst>
          </a:prstGeom>
          <a:solidFill>
            <a:srgbClr val="F4F6FC"/>
          </a:solidFill>
          <a:ln w="12700">
            <a:solidFill>
              <a:srgbClr val="C9D2E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784080" y="2560320"/>
            <a:ext cx="6217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B8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•••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10515600" y="2560320"/>
            <a:ext cx="621792" cy="502920"/>
          </a:xfrm>
          <a:prstGeom prst="roundRect">
            <a:avLst>
              <a:gd name="adj" fmla="val 9091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515600" y="2560320"/>
            <a:ext cx="6217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7589520" y="324612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B8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predicts the highlighted token from everything before it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7589520" y="361188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7B8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 PROBABILITIES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7863840" y="4535424"/>
            <a:ext cx="502920" cy="402336"/>
          </a:xfrm>
          <a:prstGeom prst="roundRect">
            <a:avLst>
              <a:gd name="adj" fmla="val 6818"/>
            </a:avLst>
          </a:prstGeom>
          <a:solidFill>
            <a:srgbClr val="CADCFC"/>
          </a:solidFill>
          <a:ln/>
        </p:spPr>
      </p:sp>
      <p:sp>
        <p:nvSpPr>
          <p:cNvPr id="35" name="Text 33"/>
          <p:cNvSpPr/>
          <p:nvPr/>
        </p:nvSpPr>
        <p:spPr>
          <a:xfrm>
            <a:off x="7863840" y="498348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B8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8595360" y="4032504"/>
            <a:ext cx="502920" cy="905256"/>
          </a:xfrm>
          <a:prstGeom prst="roundRect">
            <a:avLst>
              <a:gd name="adj" fmla="val 5455"/>
            </a:avLst>
          </a:prstGeom>
          <a:solidFill>
            <a:srgbClr val="1E2761"/>
          </a:solidFill>
          <a:ln/>
        </p:spPr>
      </p:sp>
      <p:sp>
        <p:nvSpPr>
          <p:cNvPr id="37" name="Text 35"/>
          <p:cNvSpPr/>
          <p:nvPr/>
        </p:nvSpPr>
        <p:spPr>
          <a:xfrm>
            <a:off x="8595360" y="498348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B8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9326880" y="4334256"/>
            <a:ext cx="502920" cy="603504"/>
          </a:xfrm>
          <a:prstGeom prst="roundRect">
            <a:avLst>
              <a:gd name="adj" fmla="val 5455"/>
            </a:avLst>
          </a:prstGeom>
          <a:solidFill>
            <a:srgbClr val="CADCFC"/>
          </a:solidFill>
          <a:ln/>
        </p:spPr>
      </p:sp>
      <p:sp>
        <p:nvSpPr>
          <p:cNvPr id="39" name="Text 37"/>
          <p:cNvSpPr/>
          <p:nvPr/>
        </p:nvSpPr>
        <p:spPr>
          <a:xfrm>
            <a:off x="9326880" y="498348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B8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10058400" y="4686300"/>
            <a:ext cx="502920" cy="251460"/>
          </a:xfrm>
          <a:prstGeom prst="roundRect">
            <a:avLst>
              <a:gd name="adj" fmla="val 10909"/>
            </a:avLst>
          </a:prstGeom>
          <a:solidFill>
            <a:srgbClr val="CADCFC"/>
          </a:solidFill>
          <a:ln/>
        </p:spPr>
      </p:sp>
      <p:sp>
        <p:nvSpPr>
          <p:cNvPr id="41" name="Text 39"/>
          <p:cNvSpPr/>
          <p:nvPr/>
        </p:nvSpPr>
        <p:spPr>
          <a:xfrm>
            <a:off x="10058400" y="498348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B8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B8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GENAI FOR TEST MANAGEMENT · TRACK 2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10362895" y="651052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B8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11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· SLIDE 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GenAI for PMs: Use Cases vs. Hype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691640"/>
            <a:ext cx="5349240" cy="2331720"/>
          </a:xfrm>
          <a:prstGeom prst="roundRect">
            <a:avLst>
              <a:gd name="adj" fmla="val 3137"/>
            </a:avLst>
          </a:prstGeom>
          <a:solidFill>
            <a:srgbClr val="E6F2EC"/>
          </a:solidFill>
          <a:ln/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965960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C6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371600" y="19659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C6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Good fit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77240" y="2606040"/>
            <a:ext cx="4709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333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Summarizing sprint/backlog text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333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Drafting first-pass reports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333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Spotting patterns across notes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080760" y="1691640"/>
            <a:ext cx="5349240" cy="2331720"/>
          </a:xfrm>
          <a:prstGeom prst="roundRect">
            <a:avLst>
              <a:gd name="adj" fmla="val 3137"/>
            </a:avLst>
          </a:prstGeom>
          <a:solidFill>
            <a:srgbClr val="EFEFEF"/>
          </a:solidFill>
          <a:ln/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355080" y="1965960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635508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B2C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995160" y="19659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9B2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 a fit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400800" y="2606040"/>
            <a:ext cx="4709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333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source of truth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333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replacement for judgment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333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Reliable on numbers it wasn't given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7200" y="4297680"/>
            <a:ext cx="11277295" cy="868680"/>
          </a:xfrm>
          <a:prstGeom prst="roundRect">
            <a:avLst>
              <a:gd name="adj" fmla="val 8421"/>
            </a:avLst>
          </a:prstGeom>
          <a:solidFill>
            <a:srgbClr val="1E2761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429768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Slide 2 explained — this shows up in Copilot too: "output that sounds plausible but is factually incorrect... or entirely fabricated." — GitHub, "Hallucination," Responsible use of Copilot Chat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" y="534924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Takeaway:  </a:t>
            </a:r>
            <a:pPr indent="0" marL="0">
              <a:buNone/>
            </a:pPr>
            <a:r>
              <a:rPr lang="en-US" sz="1400" dirty="0">
                <a:solidFill>
                  <a:srgbClr val="333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 GenAI as a fast first draft, not a final answer.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B8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GENAI FOR TEST MANAGEMENT · TRACK 2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0362895" y="651052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B8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11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· SLIDE 4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GitHub Copilot Chat?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78308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234440" y="1755648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Definition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234440" y="2130552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AI-powered chat interface for GitHub Copilot — GitHub's own term for it.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2807208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28072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234440" y="2779776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you'll use it today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234440" y="3154680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Code (Chat view) and Copilot Chat on github.com.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3831336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383133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234440" y="3803904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Also available in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234440" y="4178808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Mobile, CLI, JetBrains, Xcode — mention only, not used today.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4855464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485546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234440" y="4828032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point for PMs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234440" y="5202936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Chat, attached files, and custom instructions work the same for text as for code.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8321040" y="1783080"/>
            <a:ext cx="3383280" cy="3959352"/>
          </a:xfrm>
          <a:prstGeom prst="roundRect">
            <a:avLst>
              <a:gd name="adj" fmla="val 2162"/>
            </a:avLst>
          </a:prstGeom>
          <a:solidFill>
            <a:srgbClr val="F4F6FC"/>
          </a:solidFill>
          <a:ln/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321040" y="1783080"/>
            <a:ext cx="3383280" cy="457200"/>
          </a:xfrm>
          <a:prstGeom prst="roundRect">
            <a:avLst>
              <a:gd name="adj" fmla="val 16000"/>
            </a:avLst>
          </a:prstGeom>
          <a:solidFill>
            <a:srgbClr val="1E2761"/>
          </a:solidFill>
          <a:ln/>
        </p:spPr>
      </p:sp>
      <p:sp>
        <p:nvSpPr>
          <p:cNvPr id="22" name="Text 20"/>
          <p:cNvSpPr/>
          <p:nvPr/>
        </p:nvSpPr>
        <p:spPr>
          <a:xfrm>
            <a:off x="8549640" y="178308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Chat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8549640" y="2468880"/>
            <a:ext cx="2926080" cy="201168"/>
          </a:xfrm>
          <a:prstGeom prst="roundRect">
            <a:avLst>
              <a:gd name="adj" fmla="val 18182"/>
            </a:avLst>
          </a:prstGeom>
          <a:solidFill>
            <a:srgbClr val="DFE6F5"/>
          </a:solidFill>
          <a:ln/>
        </p:spPr>
      </p:sp>
      <p:sp>
        <p:nvSpPr>
          <p:cNvPr id="24" name="Shape 22"/>
          <p:cNvSpPr/>
          <p:nvPr/>
        </p:nvSpPr>
        <p:spPr>
          <a:xfrm>
            <a:off x="8549640" y="2788920"/>
            <a:ext cx="2926080" cy="201168"/>
          </a:xfrm>
          <a:prstGeom prst="roundRect">
            <a:avLst>
              <a:gd name="adj" fmla="val 18182"/>
            </a:avLst>
          </a:prstGeom>
          <a:solidFill>
            <a:srgbClr val="DFE6F5"/>
          </a:solidFill>
          <a:ln/>
        </p:spPr>
      </p:sp>
      <p:sp>
        <p:nvSpPr>
          <p:cNvPr id="25" name="Shape 23"/>
          <p:cNvSpPr/>
          <p:nvPr/>
        </p:nvSpPr>
        <p:spPr>
          <a:xfrm>
            <a:off x="8549640" y="3108960"/>
            <a:ext cx="2926080" cy="201168"/>
          </a:xfrm>
          <a:prstGeom prst="roundRect">
            <a:avLst>
              <a:gd name="adj" fmla="val 18182"/>
            </a:avLst>
          </a:prstGeom>
          <a:solidFill>
            <a:srgbClr val="DFE6F5"/>
          </a:solidFill>
          <a:ln/>
        </p:spPr>
      </p:sp>
      <p:sp>
        <p:nvSpPr>
          <p:cNvPr id="26" name="Shape 24"/>
          <p:cNvSpPr/>
          <p:nvPr/>
        </p:nvSpPr>
        <p:spPr>
          <a:xfrm>
            <a:off x="8549640" y="3429000"/>
            <a:ext cx="1463040" cy="182880"/>
          </a:xfrm>
          <a:prstGeom prst="roundRect">
            <a:avLst>
              <a:gd name="adj" fmla="val 20000"/>
            </a:avLst>
          </a:prstGeom>
          <a:solidFill>
            <a:srgbClr val="CADCFC"/>
          </a:solidFill>
          <a:ln/>
        </p:spPr>
      </p:sp>
      <p:sp>
        <p:nvSpPr>
          <p:cNvPr id="27" name="Shape 25"/>
          <p:cNvSpPr/>
          <p:nvPr/>
        </p:nvSpPr>
        <p:spPr>
          <a:xfrm>
            <a:off x="8549640" y="3721608"/>
            <a:ext cx="2048256" cy="182880"/>
          </a:xfrm>
          <a:prstGeom prst="roundRect">
            <a:avLst>
              <a:gd name="adj" fmla="val 20000"/>
            </a:avLst>
          </a:prstGeom>
          <a:solidFill>
            <a:srgbClr val="CADCFC"/>
          </a:solidFill>
          <a:ln/>
        </p:spPr>
      </p:sp>
      <p:sp>
        <p:nvSpPr>
          <p:cNvPr id="28" name="Shape 26"/>
          <p:cNvSpPr/>
          <p:nvPr/>
        </p:nvSpPr>
        <p:spPr>
          <a:xfrm>
            <a:off x="8549640" y="5239512"/>
            <a:ext cx="2331720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C9D2E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686800" y="523951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B8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Copilot…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11018520" y="5257800"/>
            <a:ext cx="329184" cy="329184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31" name="Text 29"/>
          <p:cNvSpPr/>
          <p:nvPr/>
        </p:nvSpPr>
        <p:spPr>
          <a:xfrm>
            <a:off x="11018520" y="52578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B8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GENAI FOR TEST MANAGEMENT · TRACK 2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0362895" y="651052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B8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11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· SLIDE 5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Prompt Engineering Foundations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41732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B8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official GitHub techniques — practiced today, in this order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96596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143000" y="1965960"/>
            <a:ext cx="6263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general, then get specific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2569464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25694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143000" y="2569464"/>
            <a:ext cx="6263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examples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57200" y="3172968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31729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143000" y="3172968"/>
            <a:ext cx="6263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 big asks into steps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457200" y="3776472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37764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143000" y="3776472"/>
            <a:ext cx="6263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 precise — name the file/data source explicitly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457200" y="4379976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43799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143000" y="4379976"/>
            <a:ext cx="6263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33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Iterate — don't settle for the first draft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7772400" y="1965960"/>
            <a:ext cx="3962095" cy="2743200"/>
          </a:xfrm>
          <a:prstGeom prst="roundRect">
            <a:avLst>
              <a:gd name="adj" fmla="val 2667"/>
            </a:avLst>
          </a:prstGeom>
          <a:solidFill>
            <a:srgbClr val="CADCFC"/>
          </a:solidFill>
          <a:ln/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8046720" y="2194560"/>
            <a:ext cx="34134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BONUS TIP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046720" y="2468880"/>
            <a:ext cx="34134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New thread, new task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046720" y="2880360"/>
            <a:ext cx="341345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Chat uses chat history as context. Start a fresh thread per task so old context doesn't leak in.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B8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GENAI FOR TEST MANAGEMENT · TRACK 2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0362895" y="651052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B8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11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· SLIDE 6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Context Is Everything: Feeding Copilot the Right Inputs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41732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B8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= the files/data you attach, not just the wording of the prompt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2011680"/>
            <a:ext cx="6675120" cy="320040"/>
          </a:xfrm>
          <a:prstGeom prst="roundRect">
            <a:avLst>
              <a:gd name="adj" fmla="val 22857"/>
            </a:avLst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2011680"/>
            <a:ext cx="6675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2606040"/>
            <a:ext cx="411480" cy="41148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26060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1051560" y="2532888"/>
            <a:ext cx="6080760" cy="548640"/>
          </a:xfrm>
          <a:prstGeom prst="roundRect">
            <a:avLst>
              <a:gd name="adj" fmla="val 13333"/>
            </a:avLst>
          </a:prstGeom>
          <a:solidFill>
            <a:srgbClr val="F4F6FC"/>
          </a:solidFill>
          <a:ln/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280160" y="2532888"/>
            <a:ext cx="5669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Attach the sprint/backlog export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3319272"/>
            <a:ext cx="411480" cy="41148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331927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1051560" y="3246120"/>
            <a:ext cx="6080760" cy="548640"/>
          </a:xfrm>
          <a:prstGeom prst="roundRect">
            <a:avLst>
              <a:gd name="adj" fmla="val 13333"/>
            </a:avLst>
          </a:prstGeom>
          <a:solidFill>
            <a:srgbClr val="F4F6FC"/>
          </a:solidFill>
          <a:ln/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1280160" y="3246120"/>
            <a:ext cx="5669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it explicitly in the prompt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4032504"/>
            <a:ext cx="411480" cy="41148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403250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1051560" y="3959352"/>
            <a:ext cx="6080760" cy="548640"/>
          </a:xfrm>
          <a:prstGeom prst="roundRect">
            <a:avLst>
              <a:gd name="adj" fmla="val 13333"/>
            </a:avLst>
          </a:prstGeom>
          <a:solidFill>
            <a:srgbClr val="F4F6FC"/>
          </a:solidFill>
          <a:ln/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1280160" y="3959352"/>
            <a:ext cx="5669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for the specific artifact you need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452360" y="2011680"/>
            <a:ext cx="4282135" cy="2606040"/>
          </a:xfrm>
          <a:prstGeom prst="roundRect">
            <a:avLst>
              <a:gd name="adj" fmla="val 2807"/>
            </a:avLst>
          </a:prstGeom>
          <a:solidFill>
            <a:srgbClr val="FBEAE8"/>
          </a:solidFill>
          <a:ln/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726680" y="2286000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1" name="Text 19"/>
          <p:cNvSpPr/>
          <p:nvPr/>
        </p:nvSpPr>
        <p:spPr>
          <a:xfrm>
            <a:off x="7726680" y="2286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B2C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366760" y="2286000"/>
            <a:ext cx="3093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B2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Anti-pattern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772400" y="2971800"/>
            <a:ext cx="364205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Asking for a summary with nothing attached — Copilot will guess, not report.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B8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GENAI FOR TEST MANAGEMENT · TRACK 2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0362895" y="651052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B8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11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· SLIDE 7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Status Reports &amp; Risk Reviews with Copilot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691640"/>
            <a:ext cx="5349240" cy="2377440"/>
          </a:xfrm>
          <a:prstGeom prst="roundRect">
            <a:avLst>
              <a:gd name="adj" fmla="val 3077"/>
            </a:avLst>
          </a:prstGeom>
          <a:solidFill>
            <a:srgbClr val="F4F6FC"/>
          </a:solidFill>
          <a:ln/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96596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371600" y="1965960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Status Report Pattern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77240" y="2606040"/>
            <a:ext cx="4709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data + an example of a "good" report + an explicit ask ("draft this week's update in this format").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080760" y="1691640"/>
            <a:ext cx="5349240" cy="2377440"/>
          </a:xfrm>
          <a:prstGeom prst="roundRect">
            <a:avLst>
              <a:gd name="adj" fmla="val 3077"/>
            </a:avLst>
          </a:prstGeom>
          <a:solidFill>
            <a:srgbClr val="F4F6FC"/>
          </a:solidFill>
          <a:ln/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355080" y="196596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635508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995160" y="1965960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Risk Review Pattern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400800" y="2606040"/>
            <a:ext cx="4709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Backlog + meeting notes → Copilot surfaces risk candidates (blocked items, ageing tickets, scope changes) → you validate.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7200" y="4343400"/>
            <a:ext cx="11277295" cy="731520"/>
          </a:xfrm>
          <a:prstGeom prst="roundRect">
            <a:avLst>
              <a:gd name="adj" fmla="val 10000"/>
            </a:avLst>
          </a:prstGeom>
          <a:solidFill>
            <a:srgbClr val="CADCFC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4343400"/>
            <a:ext cx="1054577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surfaces candidates — the Test Manager decides what's actually a risk.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B8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GENAI FOR TEST MANAGEMENT · TRACK 2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0362895" y="651052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B8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11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· SLIDE 8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Sprint &amp; Retrospective Summaries with Copilot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417320"/>
            <a:ext cx="112772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B8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foundational techniques from Slide 5 apply here — same pattern, different input. Keep the ask decomposed: summary first, action items second.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2148840"/>
            <a:ext cx="3611880" cy="3566160"/>
          </a:xfrm>
          <a:prstGeom prst="roundRect">
            <a:avLst>
              <a:gd name="adj" fmla="val 2051"/>
            </a:avLst>
          </a:prstGeom>
          <a:solidFill>
            <a:srgbClr val="E6F2EC"/>
          </a:solidFill>
          <a:ln/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85800" y="2377440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6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Went Well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85800" y="2971800"/>
            <a:ext cx="3154680" cy="6858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5400000">
              <a:srgbClr val="1E2761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68680" y="3218688"/>
            <a:ext cx="2743200" cy="0"/>
          </a:xfrm>
          <a:prstGeom prst="line">
            <a:avLst/>
          </a:prstGeom>
          <a:noFill/>
          <a:ln w="19050">
            <a:solidFill>
              <a:srgbClr val="DDE1E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68680" y="3429000"/>
            <a:ext cx="1645920" cy="0"/>
          </a:xfrm>
          <a:prstGeom prst="line">
            <a:avLst/>
          </a:prstGeom>
          <a:noFill/>
          <a:ln w="19050">
            <a:solidFill>
              <a:srgbClr val="DDE1E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85800" y="3840480"/>
            <a:ext cx="3154680" cy="6858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5400000">
              <a:srgbClr val="1E2761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868680" y="4087368"/>
            <a:ext cx="2743200" cy="0"/>
          </a:xfrm>
          <a:prstGeom prst="line">
            <a:avLst/>
          </a:prstGeom>
          <a:noFill/>
          <a:ln w="19050">
            <a:solidFill>
              <a:srgbClr val="DDE1E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68680" y="4297680"/>
            <a:ext cx="1645920" cy="0"/>
          </a:xfrm>
          <a:prstGeom prst="line">
            <a:avLst/>
          </a:prstGeom>
          <a:noFill/>
          <a:ln w="19050">
            <a:solidFill>
              <a:srgbClr val="DDE1E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85800" y="4709160"/>
            <a:ext cx="3154680" cy="6858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5400000">
              <a:srgbClr val="1E2761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68680" y="4956048"/>
            <a:ext cx="2743200" cy="0"/>
          </a:xfrm>
          <a:prstGeom prst="line">
            <a:avLst/>
          </a:prstGeom>
          <a:noFill/>
          <a:ln w="19050">
            <a:solidFill>
              <a:srgbClr val="DDE1E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68680" y="5166360"/>
            <a:ext cx="1645920" cy="0"/>
          </a:xfrm>
          <a:prstGeom prst="line">
            <a:avLst/>
          </a:prstGeom>
          <a:noFill/>
          <a:ln w="19050">
            <a:solidFill>
              <a:srgbClr val="DDE1E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325112" y="2148840"/>
            <a:ext cx="3611880" cy="3566160"/>
          </a:xfrm>
          <a:prstGeom prst="roundRect">
            <a:avLst>
              <a:gd name="adj" fmla="val 2051"/>
            </a:avLst>
          </a:prstGeom>
          <a:solidFill>
            <a:srgbClr val="FBEAE8"/>
          </a:solidFill>
          <a:ln/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553712" y="2377440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B2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Didn't Go Well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4553712" y="2971800"/>
            <a:ext cx="3154680" cy="6858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5400000">
              <a:srgbClr val="1E2761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736592" y="3218688"/>
            <a:ext cx="2743200" cy="0"/>
          </a:xfrm>
          <a:prstGeom prst="line">
            <a:avLst/>
          </a:prstGeom>
          <a:noFill/>
          <a:ln w="19050">
            <a:solidFill>
              <a:srgbClr val="DDE1E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36592" y="3429000"/>
            <a:ext cx="1645920" cy="0"/>
          </a:xfrm>
          <a:prstGeom prst="line">
            <a:avLst/>
          </a:prstGeom>
          <a:noFill/>
          <a:ln w="19050">
            <a:solidFill>
              <a:srgbClr val="DDE1E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53712" y="3840480"/>
            <a:ext cx="3154680" cy="6858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5400000">
              <a:srgbClr val="1E2761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736592" y="4087368"/>
            <a:ext cx="2743200" cy="0"/>
          </a:xfrm>
          <a:prstGeom prst="line">
            <a:avLst/>
          </a:prstGeom>
          <a:noFill/>
          <a:ln w="19050">
            <a:solidFill>
              <a:srgbClr val="DDE1E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736592" y="4297680"/>
            <a:ext cx="1645920" cy="0"/>
          </a:xfrm>
          <a:prstGeom prst="line">
            <a:avLst/>
          </a:prstGeom>
          <a:noFill/>
          <a:ln w="19050">
            <a:solidFill>
              <a:srgbClr val="DDE1E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553712" y="4709160"/>
            <a:ext cx="3154680" cy="6858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5400000">
              <a:srgbClr val="1E2761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36592" y="4956048"/>
            <a:ext cx="2743200" cy="0"/>
          </a:xfrm>
          <a:prstGeom prst="line">
            <a:avLst/>
          </a:prstGeom>
          <a:noFill/>
          <a:ln w="19050">
            <a:solidFill>
              <a:srgbClr val="DDE1EE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736592" y="5166360"/>
            <a:ext cx="1645920" cy="0"/>
          </a:xfrm>
          <a:prstGeom prst="line">
            <a:avLst/>
          </a:prstGeom>
          <a:noFill/>
          <a:ln w="19050">
            <a:solidFill>
              <a:srgbClr val="DDE1E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193024" y="2148840"/>
            <a:ext cx="3611880" cy="3566160"/>
          </a:xfrm>
          <a:prstGeom prst="roundRect">
            <a:avLst>
              <a:gd name="adj" fmla="val 2051"/>
            </a:avLst>
          </a:prstGeom>
          <a:solidFill>
            <a:srgbClr val="CADCFC"/>
          </a:solidFill>
          <a:ln/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8421624" y="2377440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Action Items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8421624" y="2971800"/>
            <a:ext cx="3154680" cy="6858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5400000">
              <a:srgbClr val="1E2761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604504" y="3218688"/>
            <a:ext cx="2743200" cy="0"/>
          </a:xfrm>
          <a:prstGeom prst="line">
            <a:avLst/>
          </a:prstGeom>
          <a:noFill/>
          <a:ln w="19050">
            <a:solidFill>
              <a:srgbClr val="DDE1EE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604504" y="3429000"/>
            <a:ext cx="1645920" cy="0"/>
          </a:xfrm>
          <a:prstGeom prst="line">
            <a:avLst/>
          </a:prstGeom>
          <a:noFill/>
          <a:ln w="19050">
            <a:solidFill>
              <a:srgbClr val="DDE1EE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421624" y="3840480"/>
            <a:ext cx="3154680" cy="6858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5400000">
              <a:srgbClr val="1E2761">
                <a:alpha val="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8604504" y="4087368"/>
            <a:ext cx="2743200" cy="0"/>
          </a:xfrm>
          <a:prstGeom prst="line">
            <a:avLst/>
          </a:prstGeom>
          <a:noFill/>
          <a:ln w="19050">
            <a:solidFill>
              <a:srgbClr val="DDE1EE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604504" y="4297680"/>
            <a:ext cx="1645920" cy="0"/>
          </a:xfrm>
          <a:prstGeom prst="line">
            <a:avLst/>
          </a:prstGeom>
          <a:noFill/>
          <a:ln w="19050">
            <a:solidFill>
              <a:srgbClr val="DDE1EE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421624" y="4709160"/>
            <a:ext cx="3154680" cy="6858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5400000">
              <a:srgbClr val="1E2761">
                <a:alpha val="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8604504" y="4956048"/>
            <a:ext cx="2743200" cy="0"/>
          </a:xfrm>
          <a:prstGeom prst="line">
            <a:avLst/>
          </a:prstGeom>
          <a:noFill/>
          <a:ln w="19050">
            <a:solidFill>
              <a:srgbClr val="DDE1EE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604504" y="5166360"/>
            <a:ext cx="1645920" cy="0"/>
          </a:xfrm>
          <a:prstGeom prst="line">
            <a:avLst/>
          </a:prstGeom>
          <a:noFill/>
          <a:ln w="19050">
            <a:solidFill>
              <a:srgbClr val="DDE1E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B8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GENAI FOR TEST MANAGEMENT · TRACK 2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10362895" y="651052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B8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/ 11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· SLIDE 9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Reusable Prompt Templates for Agile Ceremonies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417320"/>
            <a:ext cx="112772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B8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one by taking a weak attempt, noting the correction, and baking it into the wording.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86588" y="2194560"/>
            <a:ext cx="2514600" cy="1371600"/>
          </a:xfrm>
          <a:prstGeom prst="roundRect">
            <a:avLst>
              <a:gd name="adj" fmla="val 5333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587856" y="2395728"/>
            <a:ext cx="512064" cy="512064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7" name="Text 5"/>
          <p:cNvSpPr/>
          <p:nvPr/>
        </p:nvSpPr>
        <p:spPr>
          <a:xfrm>
            <a:off x="1587856" y="239572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78028" y="301752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/ Context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101188" y="2606040"/>
            <a:ext cx="320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3421228" y="2194560"/>
            <a:ext cx="2514600" cy="1371600"/>
          </a:xfrm>
          <a:prstGeom prst="roundRect">
            <a:avLst>
              <a:gd name="adj" fmla="val 5333"/>
            </a:avLst>
          </a:prstGeom>
          <a:solidFill>
            <a:srgbClr val="CADCFC"/>
          </a:solidFill>
          <a:ln/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422496" y="2395728"/>
            <a:ext cx="512064" cy="51206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2" name="Text 10"/>
          <p:cNvSpPr/>
          <p:nvPr/>
        </p:nvSpPr>
        <p:spPr>
          <a:xfrm>
            <a:off x="4422496" y="239572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512668" y="301752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Reference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935828" y="2606040"/>
            <a:ext cx="320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6255868" y="2194560"/>
            <a:ext cx="2514600" cy="1371600"/>
          </a:xfrm>
          <a:prstGeom prst="roundRect">
            <a:avLst>
              <a:gd name="adj" fmla="val 5333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257136" y="2395728"/>
            <a:ext cx="512064" cy="512064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7" name="Text 15"/>
          <p:cNvSpPr/>
          <p:nvPr/>
        </p:nvSpPr>
        <p:spPr>
          <a:xfrm>
            <a:off x="7257136" y="239572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347308" y="301752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Format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770468" y="2606040"/>
            <a:ext cx="320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9090508" y="2194560"/>
            <a:ext cx="2514600" cy="1371600"/>
          </a:xfrm>
          <a:prstGeom prst="roundRect">
            <a:avLst>
              <a:gd name="adj" fmla="val 5333"/>
            </a:avLst>
          </a:prstGeom>
          <a:solidFill>
            <a:srgbClr val="CADCFC"/>
          </a:solidFill>
          <a:ln/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10091776" y="2395728"/>
            <a:ext cx="512064" cy="51206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2" name="Text 20"/>
          <p:cNvSpPr/>
          <p:nvPr/>
        </p:nvSpPr>
        <p:spPr>
          <a:xfrm>
            <a:off x="10091776" y="239572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9181948" y="301752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57200" y="4114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7B8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7200" y="4480560"/>
            <a:ext cx="2574036" cy="457200"/>
          </a:xfrm>
          <a:prstGeom prst="roundRect">
            <a:avLst>
              <a:gd name="adj" fmla="val 50000"/>
            </a:avLst>
          </a:prstGeom>
          <a:solidFill>
            <a:srgbClr val="F4F6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4480560"/>
            <a:ext cx="25740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Backlog grooming prep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259836" y="4480560"/>
            <a:ext cx="1837944" cy="457200"/>
          </a:xfrm>
          <a:prstGeom prst="roundRect">
            <a:avLst>
              <a:gd name="adj" fmla="val 50000"/>
            </a:avLst>
          </a:prstGeom>
          <a:solidFill>
            <a:srgbClr val="F4F6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259836" y="4480560"/>
            <a:ext cx="18379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summary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326380" y="4480560"/>
            <a:ext cx="1522476" cy="457200"/>
          </a:xfrm>
          <a:prstGeom prst="roundRect">
            <a:avLst>
              <a:gd name="adj" fmla="val 50000"/>
            </a:avLst>
          </a:prstGeom>
          <a:solidFill>
            <a:srgbClr val="F4F6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326380" y="4480560"/>
            <a:ext cx="15224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Retro notes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B8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GENAI FOR TEST MANAGEMENT · TRACK 2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0362895" y="651052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B8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11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· HANDS-ON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Module 1 Lab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828800"/>
            <a:ext cx="384048" cy="38404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E276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97280" y="1719072"/>
            <a:ext cx="10637215" cy="621792"/>
          </a:xfrm>
          <a:prstGeom prst="roundRect">
            <a:avLst>
              <a:gd name="adj" fmla="val 11765"/>
            </a:avLst>
          </a:prstGeom>
          <a:solidFill>
            <a:srgbClr val="F4F6FC"/>
          </a:solidFill>
          <a:ln/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325880" y="1719072"/>
            <a:ext cx="1018001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the 5 prompt techniques (Slide 5) on the provided sample sprint data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2697480"/>
            <a:ext cx="384048" cy="38404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E276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97280" y="2587752"/>
            <a:ext cx="10637215" cy="621792"/>
          </a:xfrm>
          <a:prstGeom prst="roundRect">
            <a:avLst>
              <a:gd name="adj" fmla="val 11765"/>
            </a:avLst>
          </a:prstGeom>
          <a:solidFill>
            <a:srgbClr val="F4F6FC"/>
          </a:solidFill>
          <a:ln/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325880" y="2587752"/>
            <a:ext cx="1018001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a status report (Slide 7) and a retrospective summary (Slide 8) with Copilot Chat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3566160"/>
            <a:ext cx="384048" cy="38404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E276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97280" y="3456432"/>
            <a:ext cx="10637215" cy="621792"/>
          </a:xfrm>
          <a:prstGeom prst="roundRect">
            <a:avLst>
              <a:gd name="adj" fmla="val 11765"/>
            </a:avLst>
          </a:prstGeom>
          <a:solidFill>
            <a:srgbClr val="F4F6FC"/>
          </a:solidFill>
          <a:ln/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1325880" y="3456432"/>
            <a:ext cx="1018001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Refine your weakest attempt into a reusable template (Slide 9)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4617720"/>
            <a:ext cx="11277295" cy="1234440"/>
          </a:xfrm>
          <a:prstGeom prst="roundRect">
            <a:avLst>
              <a:gd name="adj" fmla="val 5926"/>
            </a:avLst>
          </a:prstGeom>
          <a:solidFill>
            <a:srgbClr val="E6F2EC"/>
          </a:solidFill>
          <a:ln/>
        </p:spPr>
      </p:sp>
      <p:sp>
        <p:nvSpPr>
          <p:cNvPr id="14" name="Shape 12"/>
          <p:cNvSpPr/>
          <p:nvPr/>
        </p:nvSpPr>
        <p:spPr>
          <a:xfrm>
            <a:off x="731520" y="5006340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50063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C6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371600" y="4764024"/>
            <a:ext cx="100885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6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 data ready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371600" y="5129784"/>
            <a:ext cx="1008857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6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sprint-board-export.csv · backlog.csv · team-meeting-notes.md · weak-prompt-example.md — all in lab/module-1-fundamentals/sample-data/. Runs fully offline in VS Code + Copilot Chat, ~45 min, no MCP or live Jira needed.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B8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GENAI FOR TEST MANAGEMENT · TRACK 2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0362895" y="651052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B8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11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GenAI for Test Management</dc:creator>
  <cp:lastModifiedBy>GenAI for Test Management</cp:lastModifiedBy>
  <cp:revision>1</cp:revision>
  <dcterms:created xsi:type="dcterms:W3CDTF">2026-08-19T13:19:18Z</dcterms:created>
  <dcterms:modified xsi:type="dcterms:W3CDTF">2026-08-19T13:19:18Z</dcterms:modified>
</cp:coreProperties>
</file>